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754"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1848346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 Id="rId9"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9.png"/><Relationship Id="rId7"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11.png"/><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19.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4.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224D"/>
        </a:solidFill>
        <a:effectLst/>
      </p:bgPr>
    </p:bg>
    <p:spTree>
      <p:nvGrpSpPr>
        <p:cNvPr id="1" name=""/>
        <p:cNvGrpSpPr/>
        <p:nvPr/>
      </p:nvGrpSpPr>
      <p:grpSpPr>
        <a:xfrm>
          <a:off x="0" y="0"/>
          <a:ext cx="0" cy="0"/>
          <a:chOff x="0" y="0"/>
          <a:chExt cx="0" cy="0"/>
        </a:xfrm>
      </p:grpSpPr>
      <p:sp>
        <p:nvSpPr>
          <p:cNvPr id="2" name="Shape 0"/>
          <p:cNvSpPr/>
          <p:nvPr/>
        </p:nvSpPr>
        <p:spPr>
          <a:xfrm>
            <a:off x="8778240" y="-2011680"/>
            <a:ext cx="5943600" cy="5943600"/>
          </a:xfrm>
          <a:prstGeom prst="ellipse">
            <a:avLst/>
          </a:prstGeom>
          <a:solidFill>
            <a:srgbClr val="22335E"/>
          </a:solidFill>
          <a:ln/>
        </p:spPr>
        <p:txBody>
          <a:bodyPr/>
          <a:lstStyle/>
          <a:p>
            <a:endParaRPr lang="en-IN"/>
          </a:p>
        </p:txBody>
      </p:sp>
      <p:sp>
        <p:nvSpPr>
          <p:cNvPr id="3" name="Shape 1"/>
          <p:cNvSpPr/>
          <p:nvPr/>
        </p:nvSpPr>
        <p:spPr>
          <a:xfrm>
            <a:off x="10607040" y="3291840"/>
            <a:ext cx="4023360" cy="4023360"/>
          </a:xfrm>
          <a:prstGeom prst="ellipse">
            <a:avLst/>
          </a:prstGeom>
          <a:solidFill>
            <a:srgbClr val="0D1730"/>
          </a:solidFill>
          <a:ln/>
        </p:spPr>
        <p:txBody>
          <a:bodyPr/>
          <a:lstStyle/>
          <a:p>
            <a:endParaRPr lang="en-IN"/>
          </a:p>
        </p:txBody>
      </p:sp>
      <p:sp>
        <p:nvSpPr>
          <p:cNvPr id="4" name="Shape 2"/>
          <p:cNvSpPr/>
          <p:nvPr/>
        </p:nvSpPr>
        <p:spPr>
          <a:xfrm>
            <a:off x="-1463040" y="4754880"/>
            <a:ext cx="3291840" cy="3291840"/>
          </a:xfrm>
          <a:prstGeom prst="ellipse">
            <a:avLst/>
          </a:prstGeom>
          <a:solidFill>
            <a:srgbClr val="22335E"/>
          </a:solidFill>
          <a:ln/>
        </p:spPr>
        <p:txBody>
          <a:bodyPr/>
          <a:lstStyle/>
          <a:p>
            <a:endParaRPr lang="en-IN"/>
          </a:p>
        </p:txBody>
      </p:sp>
      <p:sp>
        <p:nvSpPr>
          <p:cNvPr id="5" name="Text 3"/>
          <p:cNvSpPr/>
          <p:nvPr/>
        </p:nvSpPr>
        <p:spPr>
          <a:xfrm>
            <a:off x="640080" y="777240"/>
            <a:ext cx="8229600" cy="365760"/>
          </a:xfrm>
          <a:prstGeom prst="rect">
            <a:avLst/>
          </a:prstGeom>
          <a:noFill/>
          <a:ln/>
        </p:spPr>
        <p:txBody>
          <a:bodyPr wrap="square" lIns="0" tIns="0" rIns="0" bIns="0" rtlCol="0" anchor="ctr"/>
          <a:lstStyle/>
          <a:p>
            <a:pPr marL="0" indent="0">
              <a:buNone/>
            </a:pPr>
            <a:r>
              <a:rPr lang="en-US" sz="1300" b="1" kern="0" spc="300" dirty="0">
                <a:solidFill>
                  <a:srgbClr val="E29A3E"/>
                </a:solidFill>
                <a:latin typeface="Calibri" pitchFamily="34" charset="0"/>
                <a:ea typeface="Calibri" pitchFamily="34" charset="-122"/>
                <a:cs typeface="Calibri" pitchFamily="34" charset="-120"/>
              </a:rPr>
              <a:t>PROJECT DEVELOPMENT DOCUMENT</a:t>
            </a:r>
            <a:endParaRPr lang="en-US" sz="1300" dirty="0"/>
          </a:p>
        </p:txBody>
      </p:sp>
      <p:sp>
        <p:nvSpPr>
          <p:cNvPr id="6" name="Text 4"/>
          <p:cNvSpPr/>
          <p:nvPr/>
        </p:nvSpPr>
        <p:spPr>
          <a:xfrm>
            <a:off x="640080" y="1234440"/>
            <a:ext cx="9875520" cy="1051560"/>
          </a:xfrm>
          <a:prstGeom prst="rect">
            <a:avLst/>
          </a:prstGeom>
          <a:noFill/>
          <a:ln/>
        </p:spPr>
        <p:txBody>
          <a:bodyPr wrap="square" lIns="0" tIns="0" rIns="0" bIns="0" rtlCol="0" anchor="ctr"/>
          <a:lstStyle/>
          <a:p>
            <a:pPr marL="0" indent="0">
              <a:buNone/>
            </a:pPr>
            <a:r>
              <a:rPr lang="en-US" sz="4600" b="1" dirty="0">
                <a:solidFill>
                  <a:srgbClr val="FFFFFF"/>
                </a:solidFill>
                <a:latin typeface="Cambria" pitchFamily="34" charset="0"/>
                <a:ea typeface="Cambria" pitchFamily="34" charset="-122"/>
                <a:cs typeface="Cambria" pitchFamily="34" charset="-120"/>
              </a:rPr>
              <a:t>AI Financial Analyzer</a:t>
            </a:r>
            <a:endParaRPr lang="en-US" sz="4600" dirty="0"/>
          </a:p>
        </p:txBody>
      </p:sp>
      <p:sp>
        <p:nvSpPr>
          <p:cNvPr id="7" name="Text 5"/>
          <p:cNvSpPr/>
          <p:nvPr/>
        </p:nvSpPr>
        <p:spPr>
          <a:xfrm>
            <a:off x="640080" y="2212848"/>
            <a:ext cx="8778240" cy="548640"/>
          </a:xfrm>
          <a:prstGeom prst="rect">
            <a:avLst/>
          </a:prstGeom>
          <a:noFill/>
          <a:ln/>
        </p:spPr>
        <p:txBody>
          <a:bodyPr wrap="square" lIns="0" tIns="0" rIns="0" bIns="0" rtlCol="0" anchor="ctr"/>
          <a:lstStyle/>
          <a:p>
            <a:pPr marL="0" indent="0">
              <a:buNone/>
            </a:pPr>
            <a:r>
              <a:rPr lang="en-US" sz="1600" i="1" dirty="0">
                <a:solidFill>
                  <a:srgbClr val="CADCFC"/>
                </a:solidFill>
                <a:latin typeface="Calibri" pitchFamily="34" charset="0"/>
                <a:ea typeface="Calibri" pitchFamily="34" charset="-122"/>
                <a:cs typeface="Calibri" pitchFamily="34" charset="-120"/>
              </a:rPr>
              <a:t>Automated Payslip-Based Loan Eligibility &amp; AI-Driven Bank Statement Categorization</a:t>
            </a:r>
            <a:endParaRPr lang="en-US" sz="1600" dirty="0"/>
          </a:p>
        </p:txBody>
      </p:sp>
      <p:sp>
        <p:nvSpPr>
          <p:cNvPr id="8" name="Shape 6"/>
          <p:cNvSpPr/>
          <p:nvPr/>
        </p:nvSpPr>
        <p:spPr>
          <a:xfrm>
            <a:off x="640080" y="3246120"/>
            <a:ext cx="10607040" cy="2880360"/>
          </a:xfrm>
          <a:prstGeom prst="roundRect">
            <a:avLst>
              <a:gd name="adj" fmla="val 3810"/>
            </a:avLst>
          </a:prstGeom>
          <a:solidFill>
            <a:srgbClr val="22335E"/>
          </a:solidFill>
          <a:ln w="12700">
            <a:solidFill>
              <a:srgbClr val="33437A"/>
            </a:solidFill>
            <a:prstDash val="solid"/>
          </a:ln>
        </p:spPr>
        <p:txBody>
          <a:bodyPr/>
          <a:lstStyle/>
          <a:p>
            <a:endParaRPr lang="en-IN"/>
          </a:p>
        </p:txBody>
      </p:sp>
      <p:sp>
        <p:nvSpPr>
          <p:cNvPr id="9" name="Text 7"/>
          <p:cNvSpPr/>
          <p:nvPr/>
        </p:nvSpPr>
        <p:spPr>
          <a:xfrm>
            <a:off x="1097280" y="3410712"/>
            <a:ext cx="2743200" cy="274320"/>
          </a:xfrm>
          <a:prstGeom prst="rect">
            <a:avLst/>
          </a:prstGeom>
          <a:noFill/>
          <a:ln/>
        </p:spPr>
        <p:txBody>
          <a:bodyPr wrap="square" lIns="0" tIns="0" rIns="0" bIns="0" rtlCol="0" anchor="ctr"/>
          <a:lstStyle/>
          <a:p>
            <a:pPr marL="0" indent="0">
              <a:buNone/>
            </a:pPr>
            <a:r>
              <a:rPr lang="en-US" sz="1100" b="1" kern="0" spc="100" dirty="0">
                <a:solidFill>
                  <a:srgbClr val="E29A3E"/>
                </a:solidFill>
                <a:latin typeface="Calibri" pitchFamily="34" charset="0"/>
                <a:ea typeface="Calibri" pitchFamily="34" charset="-122"/>
                <a:cs typeface="Calibri" pitchFamily="34" charset="-120"/>
              </a:rPr>
              <a:t>NAME</a:t>
            </a:r>
            <a:endParaRPr lang="en-US" sz="1100" dirty="0"/>
          </a:p>
        </p:txBody>
      </p:sp>
      <p:sp>
        <p:nvSpPr>
          <p:cNvPr id="10" name="Text 8"/>
          <p:cNvSpPr/>
          <p:nvPr/>
        </p:nvSpPr>
        <p:spPr>
          <a:xfrm>
            <a:off x="1097280" y="3703320"/>
            <a:ext cx="420624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Ritam Halder</a:t>
            </a:r>
            <a:endParaRPr lang="en-US" sz="1600" dirty="0"/>
          </a:p>
        </p:txBody>
      </p:sp>
      <p:sp>
        <p:nvSpPr>
          <p:cNvPr id="11" name="Text 9"/>
          <p:cNvSpPr/>
          <p:nvPr/>
        </p:nvSpPr>
        <p:spPr>
          <a:xfrm>
            <a:off x="6035040" y="3410712"/>
            <a:ext cx="2926080" cy="274320"/>
          </a:xfrm>
          <a:prstGeom prst="rect">
            <a:avLst/>
          </a:prstGeom>
          <a:noFill/>
          <a:ln/>
        </p:spPr>
        <p:txBody>
          <a:bodyPr wrap="square" lIns="0" tIns="0" rIns="0" bIns="0" rtlCol="0" anchor="ctr"/>
          <a:lstStyle/>
          <a:p>
            <a:pPr marL="0" indent="0">
              <a:buNone/>
            </a:pPr>
            <a:r>
              <a:rPr lang="en-US" sz="1100" b="1" kern="0" spc="100" dirty="0">
                <a:solidFill>
                  <a:srgbClr val="E29A3E"/>
                </a:solidFill>
                <a:latin typeface="Calibri" pitchFamily="34" charset="0"/>
                <a:ea typeface="Calibri" pitchFamily="34" charset="-122"/>
                <a:cs typeface="Calibri" pitchFamily="34" charset="-120"/>
              </a:rPr>
              <a:t>UNIVERSITY</a:t>
            </a:r>
            <a:endParaRPr lang="en-US" sz="1100" dirty="0"/>
          </a:p>
        </p:txBody>
      </p:sp>
      <p:sp>
        <p:nvSpPr>
          <p:cNvPr id="12" name="Text 10"/>
          <p:cNvSpPr/>
          <p:nvPr/>
        </p:nvSpPr>
        <p:spPr>
          <a:xfrm>
            <a:off x="6035040" y="3703320"/>
            <a:ext cx="475488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The Neotia University</a:t>
            </a:r>
            <a:endParaRPr lang="en-US" sz="1600" dirty="0"/>
          </a:p>
        </p:txBody>
      </p:sp>
      <p:sp>
        <p:nvSpPr>
          <p:cNvPr id="13" name="Shape 11"/>
          <p:cNvSpPr/>
          <p:nvPr/>
        </p:nvSpPr>
        <p:spPr>
          <a:xfrm>
            <a:off x="1097280" y="3966210"/>
            <a:ext cx="9692640" cy="0"/>
          </a:xfrm>
          <a:prstGeom prst="line">
            <a:avLst/>
          </a:prstGeom>
          <a:noFill/>
          <a:ln w="9525">
            <a:solidFill>
              <a:srgbClr val="33437A"/>
            </a:solidFill>
            <a:prstDash val="solid"/>
          </a:ln>
        </p:spPr>
        <p:txBody>
          <a:bodyPr/>
          <a:lstStyle/>
          <a:p>
            <a:endParaRPr lang="en-IN"/>
          </a:p>
        </p:txBody>
      </p:sp>
      <p:sp>
        <p:nvSpPr>
          <p:cNvPr id="14" name="Text 12"/>
          <p:cNvSpPr/>
          <p:nvPr/>
        </p:nvSpPr>
        <p:spPr>
          <a:xfrm>
            <a:off x="1097280" y="4130802"/>
            <a:ext cx="2743200" cy="274320"/>
          </a:xfrm>
          <a:prstGeom prst="rect">
            <a:avLst/>
          </a:prstGeom>
          <a:noFill/>
          <a:ln/>
        </p:spPr>
        <p:txBody>
          <a:bodyPr wrap="square" lIns="0" tIns="0" rIns="0" bIns="0" rtlCol="0" anchor="ctr"/>
          <a:lstStyle/>
          <a:p>
            <a:pPr marL="0" indent="0">
              <a:buNone/>
            </a:pPr>
            <a:r>
              <a:rPr lang="en-US" sz="1100" b="1" kern="0" spc="100" dirty="0">
                <a:solidFill>
                  <a:srgbClr val="E29A3E"/>
                </a:solidFill>
                <a:latin typeface="Calibri" pitchFamily="34" charset="0"/>
                <a:ea typeface="Calibri" pitchFamily="34" charset="-122"/>
                <a:cs typeface="Calibri" pitchFamily="34" charset="-120"/>
              </a:rPr>
              <a:t>UID / ROLL</a:t>
            </a:r>
            <a:endParaRPr lang="en-US" sz="1100" dirty="0"/>
          </a:p>
        </p:txBody>
      </p:sp>
      <p:sp>
        <p:nvSpPr>
          <p:cNvPr id="15" name="Text 13"/>
          <p:cNvSpPr/>
          <p:nvPr/>
        </p:nvSpPr>
        <p:spPr>
          <a:xfrm>
            <a:off x="1097280" y="4423410"/>
            <a:ext cx="420624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TNUR20241053013</a:t>
            </a:r>
            <a:endParaRPr lang="en-US" sz="1600" dirty="0"/>
          </a:p>
        </p:txBody>
      </p:sp>
      <p:sp>
        <p:nvSpPr>
          <p:cNvPr id="16" name="Text 14"/>
          <p:cNvSpPr/>
          <p:nvPr/>
        </p:nvSpPr>
        <p:spPr>
          <a:xfrm>
            <a:off x="6035040" y="4130802"/>
            <a:ext cx="2926080" cy="274320"/>
          </a:xfrm>
          <a:prstGeom prst="rect">
            <a:avLst/>
          </a:prstGeom>
          <a:noFill/>
          <a:ln/>
        </p:spPr>
        <p:txBody>
          <a:bodyPr wrap="square" lIns="0" tIns="0" rIns="0" bIns="0" rtlCol="0" anchor="ctr"/>
          <a:lstStyle/>
          <a:p>
            <a:pPr marL="0" indent="0">
              <a:buNone/>
            </a:pPr>
            <a:r>
              <a:rPr lang="en-US" sz="1100" b="1" kern="0" spc="100" dirty="0">
                <a:solidFill>
                  <a:srgbClr val="E29A3E"/>
                </a:solidFill>
                <a:latin typeface="Calibri" pitchFamily="34" charset="0"/>
                <a:ea typeface="Calibri" pitchFamily="34" charset="-122"/>
                <a:cs typeface="Calibri" pitchFamily="34" charset="-120"/>
              </a:rPr>
              <a:t>INTERNSHIP COMPANY</a:t>
            </a:r>
            <a:endParaRPr lang="en-US" sz="1100" dirty="0"/>
          </a:p>
        </p:txBody>
      </p:sp>
      <p:sp>
        <p:nvSpPr>
          <p:cNvPr id="17" name="Text 15"/>
          <p:cNvSpPr/>
          <p:nvPr/>
        </p:nvSpPr>
        <p:spPr>
          <a:xfrm>
            <a:off x="6035040" y="4423410"/>
            <a:ext cx="475488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Kognitive</a:t>
            </a:r>
            <a:endParaRPr lang="en-US" sz="1600" dirty="0"/>
          </a:p>
        </p:txBody>
      </p:sp>
      <p:sp>
        <p:nvSpPr>
          <p:cNvPr id="18" name="Shape 16"/>
          <p:cNvSpPr/>
          <p:nvPr/>
        </p:nvSpPr>
        <p:spPr>
          <a:xfrm>
            <a:off x="1097280" y="4686300"/>
            <a:ext cx="9692640" cy="0"/>
          </a:xfrm>
          <a:prstGeom prst="line">
            <a:avLst/>
          </a:prstGeom>
          <a:noFill/>
          <a:ln w="9525">
            <a:solidFill>
              <a:srgbClr val="33437A"/>
            </a:solidFill>
            <a:prstDash val="solid"/>
          </a:ln>
        </p:spPr>
        <p:txBody>
          <a:bodyPr/>
          <a:lstStyle/>
          <a:p>
            <a:endParaRPr lang="en-IN"/>
          </a:p>
        </p:txBody>
      </p:sp>
      <p:sp>
        <p:nvSpPr>
          <p:cNvPr id="19" name="Text 17"/>
          <p:cNvSpPr/>
          <p:nvPr/>
        </p:nvSpPr>
        <p:spPr>
          <a:xfrm>
            <a:off x="1097280" y="4850892"/>
            <a:ext cx="2743200" cy="274320"/>
          </a:xfrm>
          <a:prstGeom prst="rect">
            <a:avLst/>
          </a:prstGeom>
          <a:noFill/>
          <a:ln/>
        </p:spPr>
        <p:txBody>
          <a:bodyPr wrap="square" lIns="0" tIns="0" rIns="0" bIns="0" rtlCol="0" anchor="ctr"/>
          <a:lstStyle/>
          <a:p>
            <a:pPr marL="0" indent="0">
              <a:buNone/>
            </a:pPr>
            <a:r>
              <a:rPr lang="en-US" sz="1100" b="1" kern="0" spc="100" dirty="0">
                <a:solidFill>
                  <a:srgbClr val="E29A3E"/>
                </a:solidFill>
                <a:latin typeface="Calibri" pitchFamily="34" charset="0"/>
                <a:ea typeface="Calibri" pitchFamily="34" charset="-122"/>
                <a:cs typeface="Calibri" pitchFamily="34" charset="-120"/>
              </a:rPr>
              <a:t>DEPARTMENT</a:t>
            </a:r>
            <a:endParaRPr lang="en-US" sz="1100" dirty="0"/>
          </a:p>
        </p:txBody>
      </p:sp>
      <p:sp>
        <p:nvSpPr>
          <p:cNvPr id="20" name="Text 18"/>
          <p:cNvSpPr/>
          <p:nvPr/>
        </p:nvSpPr>
        <p:spPr>
          <a:xfrm>
            <a:off x="1097280" y="5143500"/>
            <a:ext cx="420624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CSE (AI &amp; ML)</a:t>
            </a:r>
            <a:endParaRPr lang="en-US" sz="1600" dirty="0"/>
          </a:p>
        </p:txBody>
      </p:sp>
      <p:sp>
        <p:nvSpPr>
          <p:cNvPr id="21" name="Text 19"/>
          <p:cNvSpPr/>
          <p:nvPr/>
        </p:nvSpPr>
        <p:spPr>
          <a:xfrm>
            <a:off x="6035040" y="4850892"/>
            <a:ext cx="2926080" cy="274320"/>
          </a:xfrm>
          <a:prstGeom prst="rect">
            <a:avLst/>
          </a:prstGeom>
          <a:noFill/>
          <a:ln/>
        </p:spPr>
        <p:txBody>
          <a:bodyPr wrap="square" lIns="0" tIns="0" rIns="0" bIns="0" rtlCol="0" anchor="ctr"/>
          <a:lstStyle/>
          <a:p>
            <a:pPr marL="0" indent="0">
              <a:buNone/>
            </a:pPr>
            <a:r>
              <a:rPr lang="en-US" sz="1100" b="1" kern="0" spc="100" dirty="0">
                <a:solidFill>
                  <a:srgbClr val="E29A3E"/>
                </a:solidFill>
                <a:latin typeface="Calibri" pitchFamily="34" charset="0"/>
                <a:ea typeface="Calibri" pitchFamily="34" charset="-122"/>
                <a:cs typeface="Calibri" pitchFamily="34" charset="-120"/>
              </a:rPr>
              <a:t>INTERNSHIP DURATION</a:t>
            </a:r>
            <a:endParaRPr lang="en-US" sz="1100" dirty="0"/>
          </a:p>
        </p:txBody>
      </p:sp>
      <p:sp>
        <p:nvSpPr>
          <p:cNvPr id="22" name="Text 20"/>
          <p:cNvSpPr/>
          <p:nvPr/>
        </p:nvSpPr>
        <p:spPr>
          <a:xfrm>
            <a:off x="6035040" y="5143500"/>
            <a:ext cx="475488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15 Jun – 15 Jul 2026</a:t>
            </a:r>
            <a:endParaRPr lang="en-US" sz="1600" dirty="0"/>
          </a:p>
        </p:txBody>
      </p:sp>
      <p:sp>
        <p:nvSpPr>
          <p:cNvPr id="23" name="Shape 21"/>
          <p:cNvSpPr/>
          <p:nvPr/>
        </p:nvSpPr>
        <p:spPr>
          <a:xfrm>
            <a:off x="1097280" y="5406390"/>
            <a:ext cx="9692640" cy="0"/>
          </a:xfrm>
          <a:prstGeom prst="line">
            <a:avLst/>
          </a:prstGeom>
          <a:noFill/>
          <a:ln w="9525">
            <a:solidFill>
              <a:srgbClr val="33437A"/>
            </a:solidFill>
            <a:prstDash val="solid"/>
          </a:ln>
        </p:spPr>
        <p:txBody>
          <a:bodyPr/>
          <a:lstStyle/>
          <a:p>
            <a:endParaRPr lang="en-IN"/>
          </a:p>
        </p:txBody>
      </p:sp>
      <p:sp>
        <p:nvSpPr>
          <p:cNvPr id="24" name="Text 22"/>
          <p:cNvSpPr/>
          <p:nvPr/>
        </p:nvSpPr>
        <p:spPr>
          <a:xfrm>
            <a:off x="1097280" y="5570982"/>
            <a:ext cx="2743200" cy="274320"/>
          </a:xfrm>
          <a:prstGeom prst="rect">
            <a:avLst/>
          </a:prstGeom>
          <a:noFill/>
          <a:ln/>
        </p:spPr>
        <p:txBody>
          <a:bodyPr wrap="square" lIns="0" tIns="0" rIns="0" bIns="0" rtlCol="0" anchor="ctr"/>
          <a:lstStyle/>
          <a:p>
            <a:pPr marL="0" indent="0">
              <a:buNone/>
            </a:pPr>
            <a:r>
              <a:rPr lang="en-US" sz="1100" b="1" kern="0" spc="100" dirty="0">
                <a:solidFill>
                  <a:srgbClr val="E29A3E"/>
                </a:solidFill>
                <a:latin typeface="Calibri" pitchFamily="34" charset="0"/>
                <a:ea typeface="Calibri" pitchFamily="34" charset="-122"/>
                <a:cs typeface="Calibri" pitchFamily="34" charset="-120"/>
              </a:rPr>
              <a:t>SEMESTER</a:t>
            </a:r>
            <a:endParaRPr lang="en-US" sz="1100" dirty="0"/>
          </a:p>
        </p:txBody>
      </p:sp>
      <p:sp>
        <p:nvSpPr>
          <p:cNvPr id="25" name="Text 23"/>
          <p:cNvSpPr/>
          <p:nvPr/>
        </p:nvSpPr>
        <p:spPr>
          <a:xfrm>
            <a:off x="1097280" y="5863590"/>
            <a:ext cx="420624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5th</a:t>
            </a:r>
            <a:endParaRPr lang="en-US" sz="1600" dirty="0"/>
          </a:p>
        </p:txBody>
      </p:sp>
      <p:sp>
        <p:nvSpPr>
          <p:cNvPr id="26" name="Text 24"/>
          <p:cNvSpPr/>
          <p:nvPr/>
        </p:nvSpPr>
        <p:spPr>
          <a:xfrm>
            <a:off x="6035040" y="5570982"/>
            <a:ext cx="2926080" cy="274320"/>
          </a:xfrm>
          <a:prstGeom prst="rect">
            <a:avLst/>
          </a:prstGeom>
          <a:noFill/>
          <a:ln/>
        </p:spPr>
        <p:txBody>
          <a:bodyPr wrap="square" lIns="0" tIns="0" rIns="0" bIns="0" rtlCol="0" anchor="ctr"/>
          <a:lstStyle/>
          <a:p>
            <a:pPr marL="0" indent="0">
              <a:buNone/>
            </a:pPr>
            <a:r>
              <a:rPr lang="en-US" sz="1100" b="1" kern="0" spc="100" dirty="0">
                <a:solidFill>
                  <a:srgbClr val="E29A3E"/>
                </a:solidFill>
                <a:latin typeface="Calibri" pitchFamily="34" charset="0"/>
                <a:ea typeface="Calibri" pitchFamily="34" charset="-122"/>
                <a:cs typeface="Calibri" pitchFamily="34" charset="-120"/>
              </a:rPr>
              <a:t>SUBMITTED TO</a:t>
            </a:r>
            <a:endParaRPr lang="en-US" sz="1100" dirty="0"/>
          </a:p>
        </p:txBody>
      </p:sp>
      <p:sp>
        <p:nvSpPr>
          <p:cNvPr id="27" name="Text 25"/>
          <p:cNvSpPr/>
          <p:nvPr/>
        </p:nvSpPr>
        <p:spPr>
          <a:xfrm>
            <a:off x="6035040" y="5863590"/>
            <a:ext cx="4754880" cy="365760"/>
          </a:xfrm>
          <a:prstGeom prst="rect">
            <a:avLst/>
          </a:prstGeom>
          <a:noFill/>
          <a:ln/>
        </p:spPr>
        <p:txBody>
          <a:bodyPr wrap="square" lIns="0" tIns="0" rIns="0" bIns="0" rtlCol="0" anchor="ctr"/>
          <a:lstStyle/>
          <a:p>
            <a:pPr marL="0" indent="0">
              <a:buNone/>
            </a:pPr>
            <a:r>
              <a:rPr lang="en-US" sz="1600" dirty="0">
                <a:solidFill>
                  <a:srgbClr val="FFFFFF"/>
                </a:solidFill>
                <a:latin typeface="Calibri" pitchFamily="34" charset="0"/>
                <a:ea typeface="Calibri" pitchFamily="34" charset="-122"/>
                <a:cs typeface="Calibri" pitchFamily="34" charset="-120"/>
              </a:rPr>
              <a:t>Bikash Bej</a:t>
            </a:r>
            <a:endParaRPr lang="en-US" sz="1600" dirty="0"/>
          </a:p>
        </p:txBody>
      </p:sp>
      <p:sp>
        <p:nvSpPr>
          <p:cNvPr id="28" name="Text 26"/>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AEB9D6"/>
                </a:solidFill>
                <a:latin typeface="Calibri" pitchFamily="34" charset="0"/>
                <a:ea typeface="Calibri" pitchFamily="34" charset="-122"/>
                <a:cs typeface="Calibri" pitchFamily="34" charset="-120"/>
              </a:rPr>
              <a:t>01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PROJECT OVERVIEW</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Abstract &amp; Key Advantages</a:t>
            </a:r>
            <a:endParaRPr lang="en-US" sz="3000" dirty="0"/>
          </a:p>
        </p:txBody>
      </p:sp>
      <p:sp>
        <p:nvSpPr>
          <p:cNvPr id="4" name="Shape 2"/>
          <p:cNvSpPr/>
          <p:nvPr/>
        </p:nvSpPr>
        <p:spPr>
          <a:xfrm>
            <a:off x="548640" y="1508760"/>
            <a:ext cx="5806440" cy="4709160"/>
          </a:xfrm>
          <a:prstGeom prst="roundRect">
            <a:avLst>
              <a:gd name="adj" fmla="val 2330"/>
            </a:avLst>
          </a:prstGeom>
          <a:solidFill>
            <a:srgbClr val="16224D"/>
          </a:solidFill>
          <a:ln/>
        </p:spPr>
        <p:txBody>
          <a:bodyPr/>
          <a:lstStyle/>
          <a:p>
            <a:endParaRPr lang="en-IN"/>
          </a:p>
        </p:txBody>
      </p:sp>
      <p:sp>
        <p:nvSpPr>
          <p:cNvPr id="5" name="Shape 3"/>
          <p:cNvSpPr/>
          <p:nvPr/>
        </p:nvSpPr>
        <p:spPr>
          <a:xfrm>
            <a:off x="914400" y="1874520"/>
            <a:ext cx="566928" cy="566928"/>
          </a:xfrm>
          <a:prstGeom prst="roundRect">
            <a:avLst>
              <a:gd name="adj" fmla="val 25806"/>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6" name="Image 0" descr="/home/claude/icons/FaLightbulb.png"/>
          <p:cNvPicPr>
            <a:picLocks noChangeAspect="1"/>
          </p:cNvPicPr>
          <p:nvPr/>
        </p:nvPicPr>
        <p:blipFill>
          <a:blip r:embed="rId3"/>
          <a:stretch>
            <a:fillRect/>
          </a:stretch>
        </p:blipFill>
        <p:spPr>
          <a:xfrm>
            <a:off x="1050463" y="2010583"/>
            <a:ext cx="294803" cy="294803"/>
          </a:xfrm>
          <a:prstGeom prst="rect">
            <a:avLst/>
          </a:prstGeom>
        </p:spPr>
      </p:pic>
      <p:sp>
        <p:nvSpPr>
          <p:cNvPr id="7" name="Text 4"/>
          <p:cNvSpPr/>
          <p:nvPr/>
        </p:nvSpPr>
        <p:spPr>
          <a:xfrm>
            <a:off x="1645920" y="1892808"/>
            <a:ext cx="3657600" cy="457200"/>
          </a:xfrm>
          <a:prstGeom prst="rect">
            <a:avLst/>
          </a:prstGeom>
          <a:noFill/>
          <a:ln/>
        </p:spPr>
        <p:txBody>
          <a:bodyPr wrap="square" lIns="0" tIns="0" rIns="0" bIns="0" rtlCol="0" anchor="ctr"/>
          <a:lstStyle/>
          <a:p>
            <a:pPr marL="0" indent="0">
              <a:buNone/>
            </a:pPr>
            <a:r>
              <a:rPr lang="en-US" sz="2000" b="1" dirty="0">
                <a:solidFill>
                  <a:srgbClr val="FFFFFF"/>
                </a:solidFill>
                <a:latin typeface="Cambria" pitchFamily="34" charset="0"/>
                <a:ea typeface="Cambria" pitchFamily="34" charset="-122"/>
                <a:cs typeface="Cambria" pitchFamily="34" charset="-120"/>
              </a:rPr>
              <a:t>Abstract</a:t>
            </a:r>
            <a:endParaRPr lang="en-US" sz="2000" dirty="0"/>
          </a:p>
        </p:txBody>
      </p:sp>
      <p:sp>
        <p:nvSpPr>
          <p:cNvPr id="8" name="Text 5"/>
          <p:cNvSpPr/>
          <p:nvPr/>
        </p:nvSpPr>
        <p:spPr>
          <a:xfrm>
            <a:off x="914400" y="2560320"/>
            <a:ext cx="5074920" cy="3337560"/>
          </a:xfrm>
          <a:prstGeom prst="rect">
            <a:avLst/>
          </a:prstGeom>
          <a:noFill/>
          <a:ln/>
        </p:spPr>
        <p:txBody>
          <a:bodyPr wrap="square" lIns="0" tIns="0" rIns="0" bIns="0" rtlCol="0" anchor="ctr"/>
          <a:lstStyle/>
          <a:p>
            <a:pPr marL="0" indent="0">
              <a:lnSpc>
                <a:spcPct val="125000"/>
              </a:lnSpc>
              <a:buNone/>
            </a:pPr>
            <a:r>
              <a:rPr lang="en-US" sz="1450" dirty="0">
                <a:solidFill>
                  <a:srgbClr val="E4E9F5"/>
                </a:solidFill>
                <a:latin typeface="Calibri" pitchFamily="34" charset="0"/>
                <a:ea typeface="Calibri" pitchFamily="34" charset="-122"/>
                <a:cs typeface="Calibri" pitchFamily="34" charset="-120"/>
              </a:rPr>
              <a:t>AI Financial Analyzer is a secure, login-protected web application that unites two financial intelligence tools in one dashboard. It reads an uploaded payslip to detect Basic, HRA and other salary components, computes gross and net income, and instantly checks loan eligibility. In parallel, it reads a bank statement, classifies every transaction into a spending category using a BERT language model, and turns the numbers into clear pie charts and bar plots — making financial analysis fast, visual and reliable.</a:t>
            </a:r>
            <a:endParaRPr lang="en-US" sz="1450" dirty="0"/>
          </a:p>
        </p:txBody>
      </p:sp>
      <p:sp>
        <p:nvSpPr>
          <p:cNvPr id="9" name="Text 6"/>
          <p:cNvSpPr/>
          <p:nvPr/>
        </p:nvSpPr>
        <p:spPr>
          <a:xfrm>
            <a:off x="6629400" y="1508760"/>
            <a:ext cx="5029200" cy="365760"/>
          </a:xfrm>
          <a:prstGeom prst="rect">
            <a:avLst/>
          </a:prstGeom>
          <a:noFill/>
          <a:ln/>
        </p:spPr>
        <p:txBody>
          <a:bodyPr wrap="square" lIns="0" tIns="0" rIns="0" bIns="0" rtlCol="0" anchor="ctr"/>
          <a:lstStyle/>
          <a:p>
            <a:pPr marL="0" indent="0">
              <a:buNone/>
            </a:pPr>
            <a:r>
              <a:rPr lang="en-US" sz="1800" b="1" dirty="0">
                <a:solidFill>
                  <a:srgbClr val="16224D"/>
                </a:solidFill>
                <a:latin typeface="Cambria" pitchFamily="34" charset="0"/>
                <a:ea typeface="Cambria" pitchFamily="34" charset="-122"/>
                <a:cs typeface="Cambria" pitchFamily="34" charset="-120"/>
              </a:rPr>
              <a:t>Advantages</a:t>
            </a:r>
            <a:endParaRPr lang="en-US" sz="1800" dirty="0"/>
          </a:p>
        </p:txBody>
      </p:sp>
      <p:sp>
        <p:nvSpPr>
          <p:cNvPr id="10" name="Shape 7"/>
          <p:cNvSpPr/>
          <p:nvPr/>
        </p:nvSpPr>
        <p:spPr>
          <a:xfrm>
            <a:off x="6629400" y="2011680"/>
            <a:ext cx="2414016" cy="1298448"/>
          </a:xfrm>
          <a:prstGeom prst="roundRect">
            <a:avLst>
              <a:gd name="adj" fmla="val 7042"/>
            </a:avLst>
          </a:prstGeom>
          <a:solidFill>
            <a:srgbClr val="EEF2FA"/>
          </a:solidFill>
          <a:ln w="12700">
            <a:solidFill>
              <a:srgbClr val="DDE3F0"/>
            </a:solidFill>
            <a:prstDash val="solid"/>
          </a:ln>
        </p:spPr>
        <p:txBody>
          <a:bodyPr/>
          <a:lstStyle/>
          <a:p>
            <a:endParaRPr lang="en-IN"/>
          </a:p>
        </p:txBody>
      </p:sp>
      <p:sp>
        <p:nvSpPr>
          <p:cNvPr id="11" name="Shape 8"/>
          <p:cNvSpPr/>
          <p:nvPr/>
        </p:nvSpPr>
        <p:spPr>
          <a:xfrm>
            <a:off x="6793992" y="2176272"/>
            <a:ext cx="457200" cy="457200"/>
          </a:xfrm>
          <a:prstGeom prst="roundRect">
            <a:avLst>
              <a:gd name="adj" fmla="val 26000"/>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12" name="Image 1" descr="/home/claude/icons/FaRocket.png"/>
          <p:cNvPicPr>
            <a:picLocks noChangeAspect="1"/>
          </p:cNvPicPr>
          <p:nvPr/>
        </p:nvPicPr>
        <p:blipFill>
          <a:blip r:embed="rId4"/>
          <a:stretch>
            <a:fillRect/>
          </a:stretch>
        </p:blipFill>
        <p:spPr>
          <a:xfrm>
            <a:off x="6903720" y="2286000"/>
            <a:ext cx="237744" cy="237744"/>
          </a:xfrm>
          <a:prstGeom prst="rect">
            <a:avLst/>
          </a:prstGeom>
        </p:spPr>
      </p:pic>
      <p:sp>
        <p:nvSpPr>
          <p:cNvPr id="13" name="Text 9"/>
          <p:cNvSpPr/>
          <p:nvPr/>
        </p:nvSpPr>
        <p:spPr>
          <a:xfrm>
            <a:off x="6793992" y="2706624"/>
            <a:ext cx="2084832" cy="274320"/>
          </a:xfrm>
          <a:prstGeom prst="rect">
            <a:avLst/>
          </a:prstGeom>
          <a:noFill/>
          <a:ln/>
        </p:spPr>
        <p:txBody>
          <a:bodyPr wrap="square" lIns="0" tIns="0" rIns="0" bIns="0" rtlCol="0" anchor="ctr"/>
          <a:lstStyle/>
          <a:p>
            <a:pPr marL="0" indent="0">
              <a:buNone/>
            </a:pPr>
            <a:r>
              <a:rPr lang="en-US" sz="1250" b="1" dirty="0">
                <a:solidFill>
                  <a:srgbClr val="16224D"/>
                </a:solidFill>
                <a:latin typeface="Calibri" pitchFamily="34" charset="0"/>
                <a:ea typeface="Calibri" pitchFamily="34" charset="-122"/>
                <a:cs typeface="Calibri" pitchFamily="34" charset="-120"/>
              </a:rPr>
              <a:t>Saves Time</a:t>
            </a:r>
            <a:endParaRPr lang="en-US" sz="1250" dirty="0"/>
          </a:p>
        </p:txBody>
      </p:sp>
      <p:sp>
        <p:nvSpPr>
          <p:cNvPr id="14" name="Text 10"/>
          <p:cNvSpPr/>
          <p:nvPr/>
        </p:nvSpPr>
        <p:spPr>
          <a:xfrm>
            <a:off x="6793992" y="2971800"/>
            <a:ext cx="2084832" cy="320040"/>
          </a:xfrm>
          <a:prstGeom prst="rect">
            <a:avLst/>
          </a:prstGeom>
          <a:noFill/>
          <a:ln/>
        </p:spPr>
        <p:txBody>
          <a:bodyPr wrap="square" lIns="0" tIns="0" rIns="0" bIns="0" rtlCol="0" anchor="ctr"/>
          <a:lstStyle/>
          <a:p>
            <a:pPr marL="0" indent="0">
              <a:buNone/>
            </a:pPr>
            <a:r>
              <a:rPr lang="en-US" sz="950" dirty="0">
                <a:solidFill>
                  <a:srgbClr val="6B7686"/>
                </a:solidFill>
                <a:latin typeface="Calibri" pitchFamily="34" charset="0"/>
                <a:ea typeface="Calibri" pitchFamily="34" charset="-122"/>
                <a:cs typeface="Calibri" pitchFamily="34" charset="-120"/>
              </a:rPr>
              <a:t>Instant results instead of manual review</a:t>
            </a:r>
            <a:endParaRPr lang="en-US" sz="950" dirty="0"/>
          </a:p>
        </p:txBody>
      </p:sp>
      <p:sp>
        <p:nvSpPr>
          <p:cNvPr id="15" name="Shape 11"/>
          <p:cNvSpPr/>
          <p:nvPr/>
        </p:nvSpPr>
        <p:spPr>
          <a:xfrm>
            <a:off x="9244584" y="2011680"/>
            <a:ext cx="2414016" cy="1298448"/>
          </a:xfrm>
          <a:prstGeom prst="roundRect">
            <a:avLst>
              <a:gd name="adj" fmla="val 7042"/>
            </a:avLst>
          </a:prstGeom>
          <a:solidFill>
            <a:srgbClr val="EEF2FA"/>
          </a:solidFill>
          <a:ln w="12700">
            <a:solidFill>
              <a:srgbClr val="DDE3F0"/>
            </a:solidFill>
            <a:prstDash val="solid"/>
          </a:ln>
        </p:spPr>
        <p:txBody>
          <a:bodyPr/>
          <a:lstStyle/>
          <a:p>
            <a:endParaRPr lang="en-IN"/>
          </a:p>
        </p:txBody>
      </p:sp>
      <p:sp>
        <p:nvSpPr>
          <p:cNvPr id="16" name="Shape 12"/>
          <p:cNvSpPr/>
          <p:nvPr/>
        </p:nvSpPr>
        <p:spPr>
          <a:xfrm>
            <a:off x="9409176" y="2176272"/>
            <a:ext cx="457200" cy="457200"/>
          </a:xfrm>
          <a:prstGeom prst="roundRect">
            <a:avLst>
              <a:gd name="adj" fmla="val 26000"/>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17" name="Image 2" descr="/home/claude/icons/FaCheckCircle.png"/>
          <p:cNvPicPr>
            <a:picLocks noChangeAspect="1"/>
          </p:cNvPicPr>
          <p:nvPr/>
        </p:nvPicPr>
        <p:blipFill>
          <a:blip r:embed="rId5"/>
          <a:stretch>
            <a:fillRect/>
          </a:stretch>
        </p:blipFill>
        <p:spPr>
          <a:xfrm>
            <a:off x="9518904" y="2286000"/>
            <a:ext cx="237744" cy="237744"/>
          </a:xfrm>
          <a:prstGeom prst="rect">
            <a:avLst/>
          </a:prstGeom>
        </p:spPr>
      </p:pic>
      <p:sp>
        <p:nvSpPr>
          <p:cNvPr id="18" name="Text 13"/>
          <p:cNvSpPr/>
          <p:nvPr/>
        </p:nvSpPr>
        <p:spPr>
          <a:xfrm>
            <a:off x="9409176" y="2706624"/>
            <a:ext cx="2084832" cy="274320"/>
          </a:xfrm>
          <a:prstGeom prst="rect">
            <a:avLst/>
          </a:prstGeom>
          <a:noFill/>
          <a:ln/>
        </p:spPr>
        <p:txBody>
          <a:bodyPr wrap="square" lIns="0" tIns="0" rIns="0" bIns="0" rtlCol="0" anchor="ctr"/>
          <a:lstStyle/>
          <a:p>
            <a:pPr marL="0" indent="0">
              <a:buNone/>
            </a:pPr>
            <a:r>
              <a:rPr lang="en-US" sz="1250" b="1" dirty="0">
                <a:solidFill>
                  <a:srgbClr val="16224D"/>
                </a:solidFill>
                <a:latin typeface="Calibri" pitchFamily="34" charset="0"/>
                <a:ea typeface="Calibri" pitchFamily="34" charset="-122"/>
                <a:cs typeface="Calibri" pitchFamily="34" charset="-120"/>
              </a:rPr>
              <a:t>Reduces Errors</a:t>
            </a:r>
            <a:endParaRPr lang="en-US" sz="1250" dirty="0"/>
          </a:p>
        </p:txBody>
      </p:sp>
      <p:sp>
        <p:nvSpPr>
          <p:cNvPr id="19" name="Text 14"/>
          <p:cNvSpPr/>
          <p:nvPr/>
        </p:nvSpPr>
        <p:spPr>
          <a:xfrm>
            <a:off x="9409176" y="2971800"/>
            <a:ext cx="2084832" cy="320040"/>
          </a:xfrm>
          <a:prstGeom prst="rect">
            <a:avLst/>
          </a:prstGeom>
          <a:noFill/>
          <a:ln/>
        </p:spPr>
        <p:txBody>
          <a:bodyPr wrap="square" lIns="0" tIns="0" rIns="0" bIns="0" rtlCol="0" anchor="ctr"/>
          <a:lstStyle/>
          <a:p>
            <a:pPr marL="0" indent="0">
              <a:buNone/>
            </a:pPr>
            <a:r>
              <a:rPr lang="en-US" sz="950" dirty="0">
                <a:solidFill>
                  <a:srgbClr val="6B7686"/>
                </a:solidFill>
                <a:latin typeface="Calibri" pitchFamily="34" charset="0"/>
                <a:ea typeface="Calibri" pitchFamily="34" charset="-122"/>
                <a:cs typeface="Calibri" pitchFamily="34" charset="-120"/>
              </a:rPr>
              <a:t>Consistent, rule-based calculations</a:t>
            </a:r>
            <a:endParaRPr lang="en-US" sz="950" dirty="0"/>
          </a:p>
        </p:txBody>
      </p:sp>
      <p:sp>
        <p:nvSpPr>
          <p:cNvPr id="20" name="Shape 15"/>
          <p:cNvSpPr/>
          <p:nvPr/>
        </p:nvSpPr>
        <p:spPr>
          <a:xfrm>
            <a:off x="6629400" y="3511296"/>
            <a:ext cx="2414016" cy="1298448"/>
          </a:xfrm>
          <a:prstGeom prst="roundRect">
            <a:avLst>
              <a:gd name="adj" fmla="val 7042"/>
            </a:avLst>
          </a:prstGeom>
          <a:solidFill>
            <a:srgbClr val="EEF2FA"/>
          </a:solidFill>
          <a:ln w="12700">
            <a:solidFill>
              <a:srgbClr val="DDE3F0"/>
            </a:solidFill>
            <a:prstDash val="solid"/>
          </a:ln>
        </p:spPr>
        <p:txBody>
          <a:bodyPr/>
          <a:lstStyle/>
          <a:p>
            <a:endParaRPr lang="en-IN"/>
          </a:p>
        </p:txBody>
      </p:sp>
      <p:sp>
        <p:nvSpPr>
          <p:cNvPr id="21" name="Shape 16"/>
          <p:cNvSpPr/>
          <p:nvPr/>
        </p:nvSpPr>
        <p:spPr>
          <a:xfrm>
            <a:off x="6793992" y="3675888"/>
            <a:ext cx="457200" cy="457200"/>
          </a:xfrm>
          <a:prstGeom prst="roundRect">
            <a:avLst>
              <a:gd name="adj" fmla="val 26000"/>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22" name="Image 3" descr="/home/claude/icons/FaLock.png"/>
          <p:cNvPicPr>
            <a:picLocks noChangeAspect="1"/>
          </p:cNvPicPr>
          <p:nvPr/>
        </p:nvPicPr>
        <p:blipFill>
          <a:blip r:embed="rId6"/>
          <a:stretch>
            <a:fillRect/>
          </a:stretch>
        </p:blipFill>
        <p:spPr>
          <a:xfrm>
            <a:off x="6903720" y="3785616"/>
            <a:ext cx="237744" cy="237744"/>
          </a:xfrm>
          <a:prstGeom prst="rect">
            <a:avLst/>
          </a:prstGeom>
        </p:spPr>
      </p:pic>
      <p:sp>
        <p:nvSpPr>
          <p:cNvPr id="23" name="Text 17"/>
          <p:cNvSpPr/>
          <p:nvPr/>
        </p:nvSpPr>
        <p:spPr>
          <a:xfrm>
            <a:off x="6793992" y="4206240"/>
            <a:ext cx="2084832" cy="274320"/>
          </a:xfrm>
          <a:prstGeom prst="rect">
            <a:avLst/>
          </a:prstGeom>
          <a:noFill/>
          <a:ln/>
        </p:spPr>
        <p:txBody>
          <a:bodyPr wrap="square" lIns="0" tIns="0" rIns="0" bIns="0" rtlCol="0" anchor="ctr"/>
          <a:lstStyle/>
          <a:p>
            <a:pPr marL="0" indent="0">
              <a:buNone/>
            </a:pPr>
            <a:r>
              <a:rPr lang="en-US" sz="1250" b="1" dirty="0">
                <a:solidFill>
                  <a:srgbClr val="16224D"/>
                </a:solidFill>
                <a:latin typeface="Calibri" pitchFamily="34" charset="0"/>
                <a:ea typeface="Calibri" pitchFamily="34" charset="-122"/>
                <a:cs typeface="Calibri" pitchFamily="34" charset="-120"/>
              </a:rPr>
              <a:t>Secure Login</a:t>
            </a:r>
            <a:endParaRPr lang="en-US" sz="1250" dirty="0"/>
          </a:p>
        </p:txBody>
      </p:sp>
      <p:sp>
        <p:nvSpPr>
          <p:cNvPr id="24" name="Text 18"/>
          <p:cNvSpPr/>
          <p:nvPr/>
        </p:nvSpPr>
        <p:spPr>
          <a:xfrm>
            <a:off x="6793992" y="4471416"/>
            <a:ext cx="2084832" cy="320040"/>
          </a:xfrm>
          <a:prstGeom prst="rect">
            <a:avLst/>
          </a:prstGeom>
          <a:noFill/>
          <a:ln/>
        </p:spPr>
        <p:txBody>
          <a:bodyPr wrap="square" lIns="0" tIns="0" rIns="0" bIns="0" rtlCol="0" anchor="ctr"/>
          <a:lstStyle/>
          <a:p>
            <a:pPr marL="0" indent="0">
              <a:buNone/>
            </a:pPr>
            <a:r>
              <a:rPr lang="en-US" sz="950" dirty="0">
                <a:solidFill>
                  <a:srgbClr val="6B7686"/>
                </a:solidFill>
                <a:latin typeface="Calibri" pitchFamily="34" charset="0"/>
                <a:ea typeface="Calibri" pitchFamily="34" charset="-122"/>
                <a:cs typeface="Calibri" pitchFamily="34" charset="-120"/>
              </a:rPr>
              <a:t>Access protected behind authentication</a:t>
            </a:r>
            <a:endParaRPr lang="en-US" sz="950" dirty="0"/>
          </a:p>
        </p:txBody>
      </p:sp>
      <p:sp>
        <p:nvSpPr>
          <p:cNvPr id="25" name="Shape 19"/>
          <p:cNvSpPr/>
          <p:nvPr/>
        </p:nvSpPr>
        <p:spPr>
          <a:xfrm>
            <a:off x="9244584" y="3511296"/>
            <a:ext cx="2414016" cy="1298448"/>
          </a:xfrm>
          <a:prstGeom prst="roundRect">
            <a:avLst>
              <a:gd name="adj" fmla="val 7042"/>
            </a:avLst>
          </a:prstGeom>
          <a:solidFill>
            <a:srgbClr val="EEF2FA"/>
          </a:solidFill>
          <a:ln w="12700">
            <a:solidFill>
              <a:srgbClr val="DDE3F0"/>
            </a:solidFill>
            <a:prstDash val="solid"/>
          </a:ln>
        </p:spPr>
        <p:txBody>
          <a:bodyPr/>
          <a:lstStyle/>
          <a:p>
            <a:endParaRPr lang="en-IN"/>
          </a:p>
        </p:txBody>
      </p:sp>
      <p:sp>
        <p:nvSpPr>
          <p:cNvPr id="26" name="Shape 20"/>
          <p:cNvSpPr/>
          <p:nvPr/>
        </p:nvSpPr>
        <p:spPr>
          <a:xfrm>
            <a:off x="9409176" y="3675888"/>
            <a:ext cx="457200" cy="457200"/>
          </a:xfrm>
          <a:prstGeom prst="roundRect">
            <a:avLst>
              <a:gd name="adj" fmla="val 26000"/>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27" name="Image 4" descr="/home/claude/icons/FaRobot.png"/>
          <p:cNvPicPr>
            <a:picLocks noChangeAspect="1"/>
          </p:cNvPicPr>
          <p:nvPr/>
        </p:nvPicPr>
        <p:blipFill>
          <a:blip r:embed="rId7"/>
          <a:stretch>
            <a:fillRect/>
          </a:stretch>
        </p:blipFill>
        <p:spPr>
          <a:xfrm>
            <a:off x="9518904" y="3785616"/>
            <a:ext cx="237744" cy="237744"/>
          </a:xfrm>
          <a:prstGeom prst="rect">
            <a:avLst/>
          </a:prstGeom>
        </p:spPr>
      </p:pic>
      <p:sp>
        <p:nvSpPr>
          <p:cNvPr id="28" name="Text 21"/>
          <p:cNvSpPr/>
          <p:nvPr/>
        </p:nvSpPr>
        <p:spPr>
          <a:xfrm>
            <a:off x="9409176" y="4206240"/>
            <a:ext cx="2084832" cy="274320"/>
          </a:xfrm>
          <a:prstGeom prst="rect">
            <a:avLst/>
          </a:prstGeom>
          <a:noFill/>
          <a:ln/>
        </p:spPr>
        <p:txBody>
          <a:bodyPr wrap="square" lIns="0" tIns="0" rIns="0" bIns="0" rtlCol="0" anchor="ctr"/>
          <a:lstStyle/>
          <a:p>
            <a:pPr marL="0" indent="0">
              <a:buNone/>
            </a:pPr>
            <a:r>
              <a:rPr lang="en-US" sz="1250" b="1" dirty="0">
                <a:solidFill>
                  <a:srgbClr val="16224D"/>
                </a:solidFill>
                <a:latin typeface="Calibri" pitchFamily="34" charset="0"/>
                <a:ea typeface="Calibri" pitchFamily="34" charset="-122"/>
                <a:cs typeface="Calibri" pitchFamily="34" charset="-120"/>
              </a:rPr>
              <a:t>Auto Categorization</a:t>
            </a:r>
            <a:endParaRPr lang="en-US" sz="1250" dirty="0"/>
          </a:p>
        </p:txBody>
      </p:sp>
      <p:sp>
        <p:nvSpPr>
          <p:cNvPr id="29" name="Text 22"/>
          <p:cNvSpPr/>
          <p:nvPr/>
        </p:nvSpPr>
        <p:spPr>
          <a:xfrm>
            <a:off x="9409176" y="4471416"/>
            <a:ext cx="2084832" cy="320040"/>
          </a:xfrm>
          <a:prstGeom prst="rect">
            <a:avLst/>
          </a:prstGeom>
          <a:noFill/>
          <a:ln/>
        </p:spPr>
        <p:txBody>
          <a:bodyPr wrap="square" lIns="0" tIns="0" rIns="0" bIns="0" rtlCol="0" anchor="ctr"/>
          <a:lstStyle/>
          <a:p>
            <a:pPr marL="0" indent="0">
              <a:buNone/>
            </a:pPr>
            <a:r>
              <a:rPr lang="en-US" sz="950" dirty="0">
                <a:solidFill>
                  <a:srgbClr val="6B7686"/>
                </a:solidFill>
                <a:latin typeface="Calibri" pitchFamily="34" charset="0"/>
                <a:ea typeface="Calibri" pitchFamily="34" charset="-122"/>
                <a:cs typeface="Calibri" pitchFamily="34" charset="-120"/>
              </a:rPr>
              <a:t>BERT classifies every transaction</a:t>
            </a:r>
            <a:endParaRPr lang="en-US" sz="950" dirty="0"/>
          </a:p>
        </p:txBody>
      </p:sp>
      <p:sp>
        <p:nvSpPr>
          <p:cNvPr id="30" name="Shape 23"/>
          <p:cNvSpPr/>
          <p:nvPr/>
        </p:nvSpPr>
        <p:spPr>
          <a:xfrm>
            <a:off x="6629400" y="5010912"/>
            <a:ext cx="2414016" cy="1298448"/>
          </a:xfrm>
          <a:prstGeom prst="roundRect">
            <a:avLst>
              <a:gd name="adj" fmla="val 7042"/>
            </a:avLst>
          </a:prstGeom>
          <a:solidFill>
            <a:srgbClr val="EEF2FA"/>
          </a:solidFill>
          <a:ln w="12700">
            <a:solidFill>
              <a:srgbClr val="DDE3F0"/>
            </a:solidFill>
            <a:prstDash val="solid"/>
          </a:ln>
        </p:spPr>
        <p:txBody>
          <a:bodyPr/>
          <a:lstStyle/>
          <a:p>
            <a:endParaRPr lang="en-IN"/>
          </a:p>
        </p:txBody>
      </p:sp>
      <p:sp>
        <p:nvSpPr>
          <p:cNvPr id="31" name="Shape 24"/>
          <p:cNvSpPr/>
          <p:nvPr/>
        </p:nvSpPr>
        <p:spPr>
          <a:xfrm>
            <a:off x="6793992" y="5175504"/>
            <a:ext cx="457200" cy="457200"/>
          </a:xfrm>
          <a:prstGeom prst="roundRect">
            <a:avLst>
              <a:gd name="adj" fmla="val 26000"/>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32" name="Image 5" descr="/home/claude/icons/FaClipboardCheck.png"/>
          <p:cNvPicPr>
            <a:picLocks noChangeAspect="1"/>
          </p:cNvPicPr>
          <p:nvPr/>
        </p:nvPicPr>
        <p:blipFill>
          <a:blip r:embed="rId8"/>
          <a:stretch>
            <a:fillRect/>
          </a:stretch>
        </p:blipFill>
        <p:spPr>
          <a:xfrm>
            <a:off x="6903720" y="5285232"/>
            <a:ext cx="237744" cy="237744"/>
          </a:xfrm>
          <a:prstGeom prst="rect">
            <a:avLst/>
          </a:prstGeom>
        </p:spPr>
      </p:pic>
      <p:sp>
        <p:nvSpPr>
          <p:cNvPr id="33" name="Text 25"/>
          <p:cNvSpPr/>
          <p:nvPr/>
        </p:nvSpPr>
        <p:spPr>
          <a:xfrm>
            <a:off x="6793992" y="5705856"/>
            <a:ext cx="2084832" cy="274320"/>
          </a:xfrm>
          <a:prstGeom prst="rect">
            <a:avLst/>
          </a:prstGeom>
          <a:noFill/>
          <a:ln/>
        </p:spPr>
        <p:txBody>
          <a:bodyPr wrap="square" lIns="0" tIns="0" rIns="0" bIns="0" rtlCol="0" anchor="ctr"/>
          <a:lstStyle/>
          <a:p>
            <a:pPr marL="0" indent="0">
              <a:buNone/>
            </a:pPr>
            <a:r>
              <a:rPr lang="en-US" sz="1250" b="1" dirty="0">
                <a:solidFill>
                  <a:srgbClr val="16224D"/>
                </a:solidFill>
                <a:latin typeface="Calibri" pitchFamily="34" charset="0"/>
                <a:ea typeface="Calibri" pitchFamily="34" charset="-122"/>
                <a:cs typeface="Calibri" pitchFamily="34" charset="-120"/>
              </a:rPr>
              <a:t>Instant Eligibility</a:t>
            </a:r>
            <a:endParaRPr lang="en-US" sz="1250" dirty="0"/>
          </a:p>
        </p:txBody>
      </p:sp>
      <p:sp>
        <p:nvSpPr>
          <p:cNvPr id="34" name="Text 26"/>
          <p:cNvSpPr/>
          <p:nvPr/>
        </p:nvSpPr>
        <p:spPr>
          <a:xfrm>
            <a:off x="6793992" y="5971032"/>
            <a:ext cx="2084832" cy="320040"/>
          </a:xfrm>
          <a:prstGeom prst="rect">
            <a:avLst/>
          </a:prstGeom>
          <a:noFill/>
          <a:ln/>
        </p:spPr>
        <p:txBody>
          <a:bodyPr wrap="square" lIns="0" tIns="0" rIns="0" bIns="0" rtlCol="0" anchor="ctr"/>
          <a:lstStyle/>
          <a:p>
            <a:pPr marL="0" indent="0">
              <a:buNone/>
            </a:pPr>
            <a:r>
              <a:rPr lang="en-US" sz="950" dirty="0">
                <a:solidFill>
                  <a:srgbClr val="6B7686"/>
                </a:solidFill>
                <a:latin typeface="Calibri" pitchFamily="34" charset="0"/>
                <a:ea typeface="Calibri" pitchFamily="34" charset="-122"/>
                <a:cs typeface="Calibri" pitchFamily="34" charset="-120"/>
              </a:rPr>
              <a:t>Immediate loan decision on upload</a:t>
            </a:r>
            <a:endParaRPr lang="en-US" sz="950" dirty="0"/>
          </a:p>
        </p:txBody>
      </p:sp>
      <p:sp>
        <p:nvSpPr>
          <p:cNvPr id="35" name="Shape 27"/>
          <p:cNvSpPr/>
          <p:nvPr/>
        </p:nvSpPr>
        <p:spPr>
          <a:xfrm>
            <a:off x="9244584" y="5010912"/>
            <a:ext cx="2414016" cy="1298448"/>
          </a:xfrm>
          <a:prstGeom prst="roundRect">
            <a:avLst>
              <a:gd name="adj" fmla="val 7042"/>
            </a:avLst>
          </a:prstGeom>
          <a:solidFill>
            <a:srgbClr val="EEF2FA"/>
          </a:solidFill>
          <a:ln w="12700">
            <a:solidFill>
              <a:srgbClr val="DDE3F0"/>
            </a:solidFill>
            <a:prstDash val="solid"/>
          </a:ln>
        </p:spPr>
        <p:txBody>
          <a:bodyPr/>
          <a:lstStyle/>
          <a:p>
            <a:endParaRPr lang="en-IN"/>
          </a:p>
        </p:txBody>
      </p:sp>
      <p:sp>
        <p:nvSpPr>
          <p:cNvPr id="36" name="Shape 28"/>
          <p:cNvSpPr/>
          <p:nvPr/>
        </p:nvSpPr>
        <p:spPr>
          <a:xfrm>
            <a:off x="9409176" y="5175504"/>
            <a:ext cx="457200" cy="457200"/>
          </a:xfrm>
          <a:prstGeom prst="roundRect">
            <a:avLst>
              <a:gd name="adj" fmla="val 26000"/>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37" name="Image 6" descr="/home/claude/icons/FaChartPie.png"/>
          <p:cNvPicPr>
            <a:picLocks noChangeAspect="1"/>
          </p:cNvPicPr>
          <p:nvPr/>
        </p:nvPicPr>
        <p:blipFill>
          <a:blip r:embed="rId9"/>
          <a:stretch>
            <a:fillRect/>
          </a:stretch>
        </p:blipFill>
        <p:spPr>
          <a:xfrm>
            <a:off x="9518904" y="5285232"/>
            <a:ext cx="237744" cy="237744"/>
          </a:xfrm>
          <a:prstGeom prst="rect">
            <a:avLst/>
          </a:prstGeom>
        </p:spPr>
      </p:pic>
      <p:sp>
        <p:nvSpPr>
          <p:cNvPr id="38" name="Text 29"/>
          <p:cNvSpPr/>
          <p:nvPr/>
        </p:nvSpPr>
        <p:spPr>
          <a:xfrm>
            <a:off x="9409176" y="5705856"/>
            <a:ext cx="2084832" cy="274320"/>
          </a:xfrm>
          <a:prstGeom prst="rect">
            <a:avLst/>
          </a:prstGeom>
          <a:noFill/>
          <a:ln/>
        </p:spPr>
        <p:txBody>
          <a:bodyPr wrap="square" lIns="0" tIns="0" rIns="0" bIns="0" rtlCol="0" anchor="ctr"/>
          <a:lstStyle/>
          <a:p>
            <a:pPr marL="0" indent="0">
              <a:buNone/>
            </a:pPr>
            <a:r>
              <a:rPr lang="en-US" sz="1250" b="1" dirty="0">
                <a:solidFill>
                  <a:srgbClr val="16224D"/>
                </a:solidFill>
                <a:latin typeface="Calibri" pitchFamily="34" charset="0"/>
                <a:ea typeface="Calibri" pitchFamily="34" charset="-122"/>
                <a:cs typeface="Calibri" pitchFamily="34" charset="-120"/>
              </a:rPr>
              <a:t>Clear Visual Insights</a:t>
            </a:r>
            <a:endParaRPr lang="en-US" sz="1250" dirty="0"/>
          </a:p>
        </p:txBody>
      </p:sp>
      <p:sp>
        <p:nvSpPr>
          <p:cNvPr id="39" name="Text 30"/>
          <p:cNvSpPr/>
          <p:nvPr/>
        </p:nvSpPr>
        <p:spPr>
          <a:xfrm>
            <a:off x="9409176" y="5971032"/>
            <a:ext cx="2084832" cy="320040"/>
          </a:xfrm>
          <a:prstGeom prst="rect">
            <a:avLst/>
          </a:prstGeom>
          <a:noFill/>
          <a:ln/>
        </p:spPr>
        <p:txBody>
          <a:bodyPr wrap="square" lIns="0" tIns="0" rIns="0" bIns="0" rtlCol="0" anchor="ctr"/>
          <a:lstStyle/>
          <a:p>
            <a:pPr marL="0" indent="0">
              <a:buNone/>
            </a:pPr>
            <a:r>
              <a:rPr lang="en-US" sz="950" dirty="0">
                <a:solidFill>
                  <a:srgbClr val="6B7686"/>
                </a:solidFill>
                <a:latin typeface="Calibri" pitchFamily="34" charset="0"/>
                <a:ea typeface="Calibri" pitchFamily="34" charset="-122"/>
                <a:cs typeface="Calibri" pitchFamily="34" charset="-120"/>
              </a:rPr>
              <a:t>Pie &amp; bar charts at a glance</a:t>
            </a:r>
            <a:endParaRPr lang="en-US" sz="950" dirty="0"/>
          </a:p>
        </p:txBody>
      </p:sp>
      <p:sp>
        <p:nvSpPr>
          <p:cNvPr id="40" name="Text 31"/>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MOTIVATION</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Problem Statement &amp; Objectives</a:t>
            </a:r>
            <a:endParaRPr lang="en-US" sz="3000" dirty="0"/>
          </a:p>
        </p:txBody>
      </p:sp>
      <p:sp>
        <p:nvSpPr>
          <p:cNvPr id="4" name="Shape 2"/>
          <p:cNvSpPr/>
          <p:nvPr/>
        </p:nvSpPr>
        <p:spPr>
          <a:xfrm>
            <a:off x="548640" y="1508760"/>
            <a:ext cx="5120640" cy="4709160"/>
          </a:xfrm>
          <a:prstGeom prst="roundRect">
            <a:avLst>
              <a:gd name="adj" fmla="val 2330"/>
            </a:avLst>
          </a:prstGeom>
          <a:solidFill>
            <a:srgbClr val="EEF2FA"/>
          </a:solidFill>
          <a:ln w="12700">
            <a:solidFill>
              <a:srgbClr val="DDE3F0"/>
            </a:solidFill>
            <a:prstDash val="solid"/>
          </a:ln>
        </p:spPr>
        <p:txBody>
          <a:bodyPr/>
          <a:lstStyle/>
          <a:p>
            <a:endParaRPr lang="en-IN"/>
          </a:p>
        </p:txBody>
      </p:sp>
      <p:sp>
        <p:nvSpPr>
          <p:cNvPr id="5" name="Shape 3"/>
          <p:cNvSpPr/>
          <p:nvPr/>
        </p:nvSpPr>
        <p:spPr>
          <a:xfrm>
            <a:off x="914400" y="1874520"/>
            <a:ext cx="566928" cy="566928"/>
          </a:xfrm>
          <a:prstGeom prst="roundRect">
            <a:avLst>
              <a:gd name="adj" fmla="val 25806"/>
            </a:avLst>
          </a:prstGeom>
          <a:solidFill>
            <a:srgbClr val="D3543F"/>
          </a:solidFill>
          <a:ln/>
          <a:effectLst>
            <a:outerShdw blurRad="101600" dist="38100" dir="5400000" algn="bl" rotWithShape="0">
              <a:srgbClr val="16224D">
                <a:alpha val="18000"/>
              </a:srgbClr>
            </a:outerShdw>
          </a:effectLst>
        </p:spPr>
        <p:txBody>
          <a:bodyPr/>
          <a:lstStyle/>
          <a:p>
            <a:endParaRPr lang="en-IN"/>
          </a:p>
        </p:txBody>
      </p:sp>
      <p:pic>
        <p:nvPicPr>
          <p:cNvPr id="6" name="Image 0" descr="/home/claude/icons/FaSearchDollar.png"/>
          <p:cNvPicPr>
            <a:picLocks noChangeAspect="1"/>
          </p:cNvPicPr>
          <p:nvPr/>
        </p:nvPicPr>
        <p:blipFill>
          <a:blip r:embed="rId3"/>
          <a:stretch>
            <a:fillRect/>
          </a:stretch>
        </p:blipFill>
        <p:spPr>
          <a:xfrm>
            <a:off x="1050463" y="2010583"/>
            <a:ext cx="294803" cy="294803"/>
          </a:xfrm>
          <a:prstGeom prst="rect">
            <a:avLst/>
          </a:prstGeom>
        </p:spPr>
      </p:pic>
      <p:sp>
        <p:nvSpPr>
          <p:cNvPr id="7" name="Text 4"/>
          <p:cNvSpPr/>
          <p:nvPr/>
        </p:nvSpPr>
        <p:spPr>
          <a:xfrm>
            <a:off x="914400" y="2606040"/>
            <a:ext cx="4389120" cy="365760"/>
          </a:xfrm>
          <a:prstGeom prst="rect">
            <a:avLst/>
          </a:prstGeom>
          <a:noFill/>
          <a:ln/>
        </p:spPr>
        <p:txBody>
          <a:bodyPr wrap="square" lIns="0" tIns="0" rIns="0" bIns="0" rtlCol="0" anchor="ctr"/>
          <a:lstStyle/>
          <a:p>
            <a:pPr marL="0" indent="0">
              <a:buNone/>
            </a:pPr>
            <a:r>
              <a:rPr lang="en-US" sz="1800" b="1" dirty="0">
                <a:solidFill>
                  <a:srgbClr val="16224D"/>
                </a:solidFill>
                <a:latin typeface="Cambria" pitchFamily="34" charset="0"/>
                <a:ea typeface="Cambria" pitchFamily="34" charset="-122"/>
                <a:cs typeface="Cambria" pitchFamily="34" charset="-120"/>
              </a:rPr>
              <a:t>The Problem</a:t>
            </a:r>
            <a:endParaRPr lang="en-US" sz="1800" dirty="0"/>
          </a:p>
        </p:txBody>
      </p:sp>
      <p:sp>
        <p:nvSpPr>
          <p:cNvPr id="8" name="Text 5"/>
          <p:cNvSpPr/>
          <p:nvPr/>
        </p:nvSpPr>
        <p:spPr>
          <a:xfrm>
            <a:off x="914400" y="3063240"/>
            <a:ext cx="4389120" cy="2926080"/>
          </a:xfrm>
          <a:prstGeom prst="rect">
            <a:avLst/>
          </a:prstGeom>
          <a:noFill/>
          <a:ln/>
        </p:spPr>
        <p:txBody>
          <a:bodyPr wrap="square" lIns="0" tIns="0" rIns="0" bIns="0" rtlCol="0" anchor="ctr"/>
          <a:lstStyle/>
          <a:p>
            <a:pPr marL="0" indent="0">
              <a:lnSpc>
                <a:spcPct val="130000"/>
              </a:lnSpc>
              <a:buNone/>
            </a:pPr>
            <a:r>
              <a:rPr lang="en-US" sz="1400" dirty="0">
                <a:solidFill>
                  <a:srgbClr val="20293B"/>
                </a:solidFill>
                <a:latin typeface="Calibri" pitchFamily="34" charset="0"/>
                <a:ea typeface="Calibri" pitchFamily="34" charset="-122"/>
                <a:cs typeface="Calibri" pitchFamily="34" charset="-120"/>
              </a:rPr>
              <a:t>Manually reading payslips and bank statements to judge loan eligibility or track expenses is slow, inconsistent and requires financial expertise most people don't have. Loan applicants wait longer than necessary, and everyday spending goes untracked simply because categorizing dozens of transactions by hand is tedious — creating a clear need for an automated, accurate, and visual solution.</a:t>
            </a:r>
            <a:endParaRPr lang="en-US" sz="1400" dirty="0"/>
          </a:p>
        </p:txBody>
      </p:sp>
      <p:sp>
        <p:nvSpPr>
          <p:cNvPr id="9" name="Text 6"/>
          <p:cNvSpPr/>
          <p:nvPr/>
        </p:nvSpPr>
        <p:spPr>
          <a:xfrm>
            <a:off x="5989320" y="1508760"/>
            <a:ext cx="5669280" cy="365760"/>
          </a:xfrm>
          <a:prstGeom prst="rect">
            <a:avLst/>
          </a:prstGeom>
          <a:noFill/>
          <a:ln/>
        </p:spPr>
        <p:txBody>
          <a:bodyPr wrap="square" lIns="0" tIns="0" rIns="0" bIns="0" rtlCol="0" anchor="ctr"/>
          <a:lstStyle/>
          <a:p>
            <a:pPr marL="0" indent="0">
              <a:buNone/>
            </a:pPr>
            <a:r>
              <a:rPr lang="en-US" sz="1800" b="1" dirty="0">
                <a:solidFill>
                  <a:srgbClr val="16224D"/>
                </a:solidFill>
                <a:latin typeface="Cambria" pitchFamily="34" charset="0"/>
                <a:ea typeface="Cambria" pitchFamily="34" charset="-122"/>
                <a:cs typeface="Cambria" pitchFamily="34" charset="-120"/>
              </a:rPr>
              <a:t>Objectives</a:t>
            </a:r>
            <a:endParaRPr lang="en-US" sz="1800" dirty="0"/>
          </a:p>
        </p:txBody>
      </p:sp>
      <p:sp>
        <p:nvSpPr>
          <p:cNvPr id="10" name="Shape 7"/>
          <p:cNvSpPr/>
          <p:nvPr/>
        </p:nvSpPr>
        <p:spPr>
          <a:xfrm>
            <a:off x="5989320" y="2029968"/>
            <a:ext cx="347472" cy="347472"/>
          </a:xfrm>
          <a:prstGeom prst="ellipse">
            <a:avLst/>
          </a:prstGeom>
          <a:solidFill>
            <a:srgbClr val="16224D"/>
          </a:solidFill>
          <a:ln/>
        </p:spPr>
        <p:txBody>
          <a:bodyPr/>
          <a:lstStyle/>
          <a:p>
            <a:endParaRPr lang="en-IN"/>
          </a:p>
        </p:txBody>
      </p:sp>
      <p:sp>
        <p:nvSpPr>
          <p:cNvPr id="11" name="Text 8"/>
          <p:cNvSpPr/>
          <p:nvPr/>
        </p:nvSpPr>
        <p:spPr>
          <a:xfrm>
            <a:off x="5989320" y="202996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12" name="Text 9"/>
          <p:cNvSpPr/>
          <p:nvPr/>
        </p:nvSpPr>
        <p:spPr>
          <a:xfrm>
            <a:off x="6492240" y="1956816"/>
            <a:ext cx="5166360" cy="594360"/>
          </a:xfrm>
          <a:prstGeom prst="rect">
            <a:avLst/>
          </a:prstGeom>
          <a:noFill/>
          <a:ln/>
        </p:spPr>
        <p:txBody>
          <a:bodyPr wrap="square" lIns="0" tIns="0" rIns="0" bIns="0" rtlCol="0" anchor="ctr"/>
          <a:lstStyle/>
          <a:p>
            <a:pPr marL="0" indent="0">
              <a:lnSpc>
                <a:spcPct val="110000"/>
              </a:lnSpc>
              <a:buNone/>
            </a:pPr>
            <a:r>
              <a:rPr lang="en-US" sz="1250" dirty="0">
                <a:solidFill>
                  <a:srgbClr val="20293B"/>
                </a:solidFill>
                <a:latin typeface="Calibri" pitchFamily="34" charset="0"/>
                <a:ea typeface="Calibri" pitchFamily="34" charset="-122"/>
                <a:cs typeface="Calibri" pitchFamily="34" charset="-120"/>
              </a:rPr>
              <a:t>Extract salary components (Basic, HRA, Medical, Conveyance) directly from an uploaded payslip</a:t>
            </a:r>
            <a:endParaRPr lang="en-US" sz="1250" dirty="0"/>
          </a:p>
        </p:txBody>
      </p:sp>
      <p:sp>
        <p:nvSpPr>
          <p:cNvPr id="13" name="Shape 10"/>
          <p:cNvSpPr/>
          <p:nvPr/>
        </p:nvSpPr>
        <p:spPr>
          <a:xfrm>
            <a:off x="5989320" y="2688336"/>
            <a:ext cx="347472" cy="347472"/>
          </a:xfrm>
          <a:prstGeom prst="ellipse">
            <a:avLst/>
          </a:prstGeom>
          <a:solidFill>
            <a:srgbClr val="16224D"/>
          </a:solidFill>
          <a:ln/>
        </p:spPr>
        <p:txBody>
          <a:bodyPr/>
          <a:lstStyle/>
          <a:p>
            <a:endParaRPr lang="en-IN"/>
          </a:p>
        </p:txBody>
      </p:sp>
      <p:sp>
        <p:nvSpPr>
          <p:cNvPr id="14" name="Text 11"/>
          <p:cNvSpPr/>
          <p:nvPr/>
        </p:nvSpPr>
        <p:spPr>
          <a:xfrm>
            <a:off x="5989320" y="2688336"/>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5" name="Text 12"/>
          <p:cNvSpPr/>
          <p:nvPr/>
        </p:nvSpPr>
        <p:spPr>
          <a:xfrm>
            <a:off x="6492240" y="2615184"/>
            <a:ext cx="5166360" cy="594360"/>
          </a:xfrm>
          <a:prstGeom prst="rect">
            <a:avLst/>
          </a:prstGeom>
          <a:noFill/>
          <a:ln/>
        </p:spPr>
        <p:txBody>
          <a:bodyPr wrap="square" lIns="0" tIns="0" rIns="0" bIns="0" rtlCol="0" anchor="ctr"/>
          <a:lstStyle/>
          <a:p>
            <a:pPr marL="0" indent="0">
              <a:lnSpc>
                <a:spcPct val="110000"/>
              </a:lnSpc>
              <a:buNone/>
            </a:pPr>
            <a:r>
              <a:rPr lang="en-US" sz="1250" dirty="0">
                <a:solidFill>
                  <a:srgbClr val="20293B"/>
                </a:solidFill>
                <a:latin typeface="Calibri" pitchFamily="34" charset="0"/>
                <a:ea typeface="Calibri" pitchFamily="34" charset="-122"/>
                <a:cs typeface="Calibri" pitchFamily="34" charset="-120"/>
              </a:rPr>
              <a:t>Automatically compute gross &amp; net income and check loan eligibility against a defined threshold</a:t>
            </a:r>
            <a:endParaRPr lang="en-US" sz="1250" dirty="0"/>
          </a:p>
        </p:txBody>
      </p:sp>
      <p:sp>
        <p:nvSpPr>
          <p:cNvPr id="16" name="Shape 13"/>
          <p:cNvSpPr/>
          <p:nvPr/>
        </p:nvSpPr>
        <p:spPr>
          <a:xfrm>
            <a:off x="5989320" y="3346704"/>
            <a:ext cx="347472" cy="347472"/>
          </a:xfrm>
          <a:prstGeom prst="ellipse">
            <a:avLst/>
          </a:prstGeom>
          <a:solidFill>
            <a:srgbClr val="16224D"/>
          </a:solidFill>
          <a:ln/>
        </p:spPr>
        <p:txBody>
          <a:bodyPr/>
          <a:lstStyle/>
          <a:p>
            <a:endParaRPr lang="en-IN"/>
          </a:p>
        </p:txBody>
      </p:sp>
      <p:sp>
        <p:nvSpPr>
          <p:cNvPr id="17" name="Text 14"/>
          <p:cNvSpPr/>
          <p:nvPr/>
        </p:nvSpPr>
        <p:spPr>
          <a:xfrm>
            <a:off x="5989320" y="3346704"/>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8" name="Text 15"/>
          <p:cNvSpPr/>
          <p:nvPr/>
        </p:nvSpPr>
        <p:spPr>
          <a:xfrm>
            <a:off x="6492240" y="3273552"/>
            <a:ext cx="5166360" cy="594360"/>
          </a:xfrm>
          <a:prstGeom prst="rect">
            <a:avLst/>
          </a:prstGeom>
          <a:noFill/>
          <a:ln/>
        </p:spPr>
        <p:txBody>
          <a:bodyPr wrap="square" lIns="0" tIns="0" rIns="0" bIns="0" rtlCol="0" anchor="ctr"/>
          <a:lstStyle/>
          <a:p>
            <a:pPr marL="0" indent="0">
              <a:lnSpc>
                <a:spcPct val="110000"/>
              </a:lnSpc>
              <a:buNone/>
            </a:pPr>
            <a:r>
              <a:rPr lang="en-US" sz="1250" dirty="0">
                <a:solidFill>
                  <a:srgbClr val="20293B"/>
                </a:solidFill>
                <a:latin typeface="Calibri" pitchFamily="34" charset="0"/>
                <a:ea typeface="Calibri" pitchFamily="34" charset="-122"/>
                <a:cs typeface="Calibri" pitchFamily="34" charset="-120"/>
              </a:rPr>
              <a:t>Extract individual transactions from an uploaded bank statement</a:t>
            </a:r>
            <a:endParaRPr lang="en-US" sz="1250" dirty="0"/>
          </a:p>
        </p:txBody>
      </p:sp>
      <p:sp>
        <p:nvSpPr>
          <p:cNvPr id="19" name="Shape 16"/>
          <p:cNvSpPr/>
          <p:nvPr/>
        </p:nvSpPr>
        <p:spPr>
          <a:xfrm>
            <a:off x="5989320" y="4005072"/>
            <a:ext cx="347472" cy="347472"/>
          </a:xfrm>
          <a:prstGeom prst="ellipse">
            <a:avLst/>
          </a:prstGeom>
          <a:solidFill>
            <a:srgbClr val="16224D"/>
          </a:solidFill>
          <a:ln/>
        </p:spPr>
        <p:txBody>
          <a:bodyPr/>
          <a:lstStyle/>
          <a:p>
            <a:endParaRPr lang="en-IN"/>
          </a:p>
        </p:txBody>
      </p:sp>
      <p:sp>
        <p:nvSpPr>
          <p:cNvPr id="20" name="Text 17"/>
          <p:cNvSpPr/>
          <p:nvPr/>
        </p:nvSpPr>
        <p:spPr>
          <a:xfrm>
            <a:off x="5989320" y="4005072"/>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1" name="Text 18"/>
          <p:cNvSpPr/>
          <p:nvPr/>
        </p:nvSpPr>
        <p:spPr>
          <a:xfrm>
            <a:off x="6492240" y="3931920"/>
            <a:ext cx="5166360" cy="594360"/>
          </a:xfrm>
          <a:prstGeom prst="rect">
            <a:avLst/>
          </a:prstGeom>
          <a:noFill/>
          <a:ln/>
        </p:spPr>
        <p:txBody>
          <a:bodyPr wrap="square" lIns="0" tIns="0" rIns="0" bIns="0" rtlCol="0" anchor="ctr"/>
          <a:lstStyle/>
          <a:p>
            <a:pPr marL="0" indent="0">
              <a:lnSpc>
                <a:spcPct val="110000"/>
              </a:lnSpc>
              <a:buNone/>
            </a:pPr>
            <a:r>
              <a:rPr lang="en-US" sz="1250" dirty="0">
                <a:solidFill>
                  <a:srgbClr val="20293B"/>
                </a:solidFill>
                <a:latin typeface="Calibri" pitchFamily="34" charset="0"/>
                <a:ea typeface="Calibri" pitchFamily="34" charset="-122"/>
                <a:cs typeface="Calibri" pitchFamily="34" charset="-120"/>
              </a:rPr>
              <a:t>Classify every transaction into a spending category using a BERT model</a:t>
            </a:r>
            <a:endParaRPr lang="en-US" sz="1250" dirty="0"/>
          </a:p>
        </p:txBody>
      </p:sp>
      <p:sp>
        <p:nvSpPr>
          <p:cNvPr id="22" name="Shape 19"/>
          <p:cNvSpPr/>
          <p:nvPr/>
        </p:nvSpPr>
        <p:spPr>
          <a:xfrm>
            <a:off x="5989320" y="4663440"/>
            <a:ext cx="347472" cy="347472"/>
          </a:xfrm>
          <a:prstGeom prst="ellipse">
            <a:avLst/>
          </a:prstGeom>
          <a:solidFill>
            <a:srgbClr val="16224D"/>
          </a:solidFill>
          <a:ln/>
        </p:spPr>
        <p:txBody>
          <a:bodyPr/>
          <a:lstStyle/>
          <a:p>
            <a:endParaRPr lang="en-IN"/>
          </a:p>
        </p:txBody>
      </p:sp>
      <p:sp>
        <p:nvSpPr>
          <p:cNvPr id="23" name="Text 20"/>
          <p:cNvSpPr/>
          <p:nvPr/>
        </p:nvSpPr>
        <p:spPr>
          <a:xfrm>
            <a:off x="5989320" y="4663440"/>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4" name="Text 21"/>
          <p:cNvSpPr/>
          <p:nvPr/>
        </p:nvSpPr>
        <p:spPr>
          <a:xfrm>
            <a:off x="6492240" y="4590288"/>
            <a:ext cx="5166360" cy="594360"/>
          </a:xfrm>
          <a:prstGeom prst="rect">
            <a:avLst/>
          </a:prstGeom>
          <a:noFill/>
          <a:ln/>
        </p:spPr>
        <p:txBody>
          <a:bodyPr wrap="square" lIns="0" tIns="0" rIns="0" bIns="0" rtlCol="0" anchor="ctr"/>
          <a:lstStyle/>
          <a:p>
            <a:pPr marL="0" indent="0">
              <a:lnSpc>
                <a:spcPct val="110000"/>
              </a:lnSpc>
              <a:buNone/>
            </a:pPr>
            <a:r>
              <a:rPr lang="en-US" sz="1250" dirty="0">
                <a:solidFill>
                  <a:srgbClr val="20293B"/>
                </a:solidFill>
                <a:latin typeface="Calibri" pitchFamily="34" charset="0"/>
                <a:ea typeface="Calibri" pitchFamily="34" charset="-122"/>
                <a:cs typeface="Calibri" pitchFamily="34" charset="-120"/>
              </a:rPr>
              <a:t>Visualize salary structure and spending pattern through pie charts and bar plots</a:t>
            </a:r>
            <a:endParaRPr lang="en-US" sz="1250" dirty="0"/>
          </a:p>
        </p:txBody>
      </p:sp>
      <p:sp>
        <p:nvSpPr>
          <p:cNvPr id="25" name="Shape 22"/>
          <p:cNvSpPr/>
          <p:nvPr/>
        </p:nvSpPr>
        <p:spPr>
          <a:xfrm>
            <a:off x="5989320" y="5321808"/>
            <a:ext cx="347472" cy="347472"/>
          </a:xfrm>
          <a:prstGeom prst="ellipse">
            <a:avLst/>
          </a:prstGeom>
          <a:solidFill>
            <a:srgbClr val="16224D"/>
          </a:solidFill>
          <a:ln/>
        </p:spPr>
        <p:txBody>
          <a:bodyPr/>
          <a:lstStyle/>
          <a:p>
            <a:endParaRPr lang="en-IN"/>
          </a:p>
        </p:txBody>
      </p:sp>
      <p:sp>
        <p:nvSpPr>
          <p:cNvPr id="26" name="Text 23"/>
          <p:cNvSpPr/>
          <p:nvPr/>
        </p:nvSpPr>
        <p:spPr>
          <a:xfrm>
            <a:off x="5989320" y="5321808"/>
            <a:ext cx="347472" cy="347472"/>
          </a:xfrm>
          <a:prstGeom prst="rect">
            <a:avLst/>
          </a:prstGeom>
          <a:noFill/>
          <a:ln/>
        </p:spPr>
        <p:txBody>
          <a:bodyPr wrap="square" lIns="0" tIns="0" rIns="0" bIns="0" rtlCol="0" anchor="ctr"/>
          <a:lstStyle/>
          <a:p>
            <a:pPr marL="0" indent="0" algn="ctr">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7" name="Text 24"/>
          <p:cNvSpPr/>
          <p:nvPr/>
        </p:nvSpPr>
        <p:spPr>
          <a:xfrm>
            <a:off x="6492240" y="5248656"/>
            <a:ext cx="5166360" cy="594360"/>
          </a:xfrm>
          <a:prstGeom prst="rect">
            <a:avLst/>
          </a:prstGeom>
          <a:noFill/>
          <a:ln/>
        </p:spPr>
        <p:txBody>
          <a:bodyPr wrap="square" lIns="0" tIns="0" rIns="0" bIns="0" rtlCol="0" anchor="ctr"/>
          <a:lstStyle/>
          <a:p>
            <a:pPr marL="0" indent="0">
              <a:lnSpc>
                <a:spcPct val="110000"/>
              </a:lnSpc>
              <a:buNone/>
            </a:pPr>
            <a:r>
              <a:rPr lang="en-US" sz="1250" dirty="0">
                <a:solidFill>
                  <a:srgbClr val="20293B"/>
                </a:solidFill>
                <a:latin typeface="Calibri" pitchFamily="34" charset="0"/>
                <a:ea typeface="Calibri" pitchFamily="34" charset="-122"/>
                <a:cs typeface="Calibri" pitchFamily="34" charset="-120"/>
              </a:rPr>
              <a:t>Provide a secure, login-protected dashboard for both tools</a:t>
            </a:r>
            <a:endParaRPr lang="en-US" sz="1250" dirty="0"/>
          </a:p>
        </p:txBody>
      </p:sp>
      <p:sp>
        <p:nvSpPr>
          <p:cNvPr id="28" name="Text 25"/>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EEF2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HOW IT WORKS</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System Architecture</a:t>
            </a:r>
            <a:endParaRPr lang="en-US" sz="3000" dirty="0"/>
          </a:p>
        </p:txBody>
      </p:sp>
      <p:sp>
        <p:nvSpPr>
          <p:cNvPr id="4" name="Shape 2"/>
          <p:cNvSpPr/>
          <p:nvPr/>
        </p:nvSpPr>
        <p:spPr>
          <a:xfrm>
            <a:off x="822960" y="1554480"/>
            <a:ext cx="2286000" cy="685800"/>
          </a:xfrm>
          <a:prstGeom prst="roundRect">
            <a:avLst>
              <a:gd name="adj" fmla="val 13333"/>
            </a:avLst>
          </a:prstGeom>
          <a:solidFill>
            <a:srgbClr val="16224D"/>
          </a:solidFill>
          <a:ln/>
          <a:effectLst>
            <a:outerShdw blurRad="76200" dist="25400" dir="5400000" algn="bl" rotWithShape="0">
              <a:srgbClr val="16224D">
                <a:alpha val="15000"/>
              </a:srgbClr>
            </a:outerShdw>
          </a:effectLst>
        </p:spPr>
        <p:txBody>
          <a:bodyPr/>
          <a:lstStyle/>
          <a:p>
            <a:endParaRPr lang="en-IN"/>
          </a:p>
        </p:txBody>
      </p:sp>
      <p:sp>
        <p:nvSpPr>
          <p:cNvPr id="5" name="Text 3"/>
          <p:cNvSpPr/>
          <p:nvPr/>
        </p:nvSpPr>
        <p:spPr>
          <a:xfrm>
            <a:off x="822960" y="1554480"/>
            <a:ext cx="228600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User Login</a:t>
            </a:r>
            <a:endParaRPr lang="en-US" sz="1250" dirty="0"/>
          </a:p>
        </p:txBody>
      </p:sp>
      <p:sp>
        <p:nvSpPr>
          <p:cNvPr id="6" name="Shape 4"/>
          <p:cNvSpPr/>
          <p:nvPr/>
        </p:nvSpPr>
        <p:spPr>
          <a:xfrm>
            <a:off x="3246120" y="1824228"/>
            <a:ext cx="502920" cy="146304"/>
          </a:xfrm>
          <a:prstGeom prst="rightArrow">
            <a:avLst/>
          </a:prstGeom>
          <a:solidFill>
            <a:srgbClr val="AEB9D6"/>
          </a:solidFill>
          <a:ln/>
        </p:spPr>
        <p:txBody>
          <a:bodyPr/>
          <a:lstStyle/>
          <a:p>
            <a:endParaRPr lang="en-IN"/>
          </a:p>
        </p:txBody>
      </p:sp>
      <p:sp>
        <p:nvSpPr>
          <p:cNvPr id="7" name="Shape 5"/>
          <p:cNvSpPr/>
          <p:nvPr/>
        </p:nvSpPr>
        <p:spPr>
          <a:xfrm>
            <a:off x="3886200" y="1554480"/>
            <a:ext cx="2286000" cy="685800"/>
          </a:xfrm>
          <a:prstGeom prst="roundRect">
            <a:avLst>
              <a:gd name="adj" fmla="val 13333"/>
            </a:avLst>
          </a:prstGeom>
          <a:solidFill>
            <a:srgbClr val="16224D"/>
          </a:solidFill>
          <a:ln/>
          <a:effectLst>
            <a:outerShdw blurRad="76200" dist="25400" dir="5400000" algn="bl" rotWithShape="0">
              <a:srgbClr val="16224D">
                <a:alpha val="15000"/>
              </a:srgbClr>
            </a:outerShdw>
          </a:effectLst>
        </p:spPr>
        <p:txBody>
          <a:bodyPr/>
          <a:lstStyle/>
          <a:p>
            <a:endParaRPr lang="en-IN"/>
          </a:p>
        </p:txBody>
      </p:sp>
      <p:sp>
        <p:nvSpPr>
          <p:cNvPr id="8" name="Text 6"/>
          <p:cNvSpPr/>
          <p:nvPr/>
        </p:nvSpPr>
        <p:spPr>
          <a:xfrm>
            <a:off x="3886200" y="1554480"/>
            <a:ext cx="2286000" cy="685800"/>
          </a:xfrm>
          <a:prstGeom prst="rect">
            <a:avLst/>
          </a:prstGeom>
          <a:noFill/>
          <a:ln/>
        </p:spPr>
        <p:txBody>
          <a:bodyPr wrap="square" lIns="0" tIns="0" rIns="0" bIns="0" rtlCol="0" anchor="ctr"/>
          <a:lstStyle/>
          <a:p>
            <a:pPr marL="0" indent="0" algn="ctr">
              <a:buNone/>
            </a:pPr>
            <a:r>
              <a:rPr lang="en-US" sz="1250" b="1" dirty="0">
                <a:solidFill>
                  <a:srgbClr val="FFFFFF"/>
                </a:solidFill>
                <a:latin typeface="Calibri" pitchFamily="34" charset="0"/>
                <a:ea typeface="Calibri" pitchFamily="34" charset="-122"/>
                <a:cs typeface="Calibri" pitchFamily="34" charset="-120"/>
              </a:rPr>
              <a:t>Dashboard</a:t>
            </a:r>
            <a:endParaRPr lang="en-US" sz="1250" dirty="0"/>
          </a:p>
          <a:p>
            <a:pPr marL="0" indent="0" algn="ctr">
              <a:buNone/>
            </a:pPr>
            <a:r>
              <a:rPr lang="en-US" sz="1250" b="1" dirty="0">
                <a:solidFill>
                  <a:srgbClr val="FFFFFF"/>
                </a:solidFill>
                <a:latin typeface="Calibri" pitchFamily="34" charset="0"/>
                <a:ea typeface="Calibri" pitchFamily="34" charset="-122"/>
                <a:cs typeface="Calibri" pitchFamily="34" charset="-120"/>
              </a:rPr>
              <a:t>(Select Module)</a:t>
            </a:r>
            <a:endParaRPr lang="en-US" sz="1250" dirty="0"/>
          </a:p>
        </p:txBody>
      </p:sp>
      <p:sp>
        <p:nvSpPr>
          <p:cNvPr id="9" name="Shape 7"/>
          <p:cNvSpPr/>
          <p:nvPr/>
        </p:nvSpPr>
        <p:spPr>
          <a:xfrm>
            <a:off x="1892808" y="2286000"/>
            <a:ext cx="146304" cy="320040"/>
          </a:xfrm>
          <a:prstGeom prst="downArrow">
            <a:avLst/>
          </a:prstGeom>
          <a:solidFill>
            <a:srgbClr val="AEB9D6"/>
          </a:solidFill>
          <a:ln/>
        </p:spPr>
        <p:txBody>
          <a:bodyPr/>
          <a:lstStyle/>
          <a:p>
            <a:endParaRPr lang="en-IN"/>
          </a:p>
        </p:txBody>
      </p:sp>
      <p:sp>
        <p:nvSpPr>
          <p:cNvPr id="10" name="Shape 8"/>
          <p:cNvSpPr/>
          <p:nvPr/>
        </p:nvSpPr>
        <p:spPr>
          <a:xfrm>
            <a:off x="4956048" y="2286000"/>
            <a:ext cx="146304" cy="320040"/>
          </a:xfrm>
          <a:prstGeom prst="downArrow">
            <a:avLst/>
          </a:prstGeom>
          <a:solidFill>
            <a:srgbClr val="AEB9D6"/>
          </a:solidFill>
          <a:ln/>
        </p:spPr>
        <p:txBody>
          <a:bodyPr/>
          <a:lstStyle/>
          <a:p>
            <a:endParaRPr lang="en-IN"/>
          </a:p>
        </p:txBody>
      </p:sp>
      <p:sp>
        <p:nvSpPr>
          <p:cNvPr id="11" name="Text 9"/>
          <p:cNvSpPr/>
          <p:nvPr/>
        </p:nvSpPr>
        <p:spPr>
          <a:xfrm>
            <a:off x="548640" y="2743200"/>
            <a:ext cx="5394960" cy="274320"/>
          </a:xfrm>
          <a:prstGeom prst="rect">
            <a:avLst/>
          </a:prstGeom>
          <a:noFill/>
          <a:ln/>
        </p:spPr>
        <p:txBody>
          <a:bodyPr wrap="square" lIns="0" tIns="0" rIns="0" bIns="0" rtlCol="0" anchor="ctr"/>
          <a:lstStyle/>
          <a:p>
            <a:pPr marL="0" indent="0">
              <a:buNone/>
            </a:pPr>
            <a:r>
              <a:rPr lang="en-US" sz="1100" b="1" kern="0" spc="150" dirty="0">
                <a:solidFill>
                  <a:srgbClr val="E29A3E"/>
                </a:solidFill>
                <a:latin typeface="Calibri" pitchFamily="34" charset="0"/>
                <a:ea typeface="Calibri" pitchFamily="34" charset="-122"/>
                <a:cs typeface="Calibri" pitchFamily="34" charset="-120"/>
              </a:rPr>
              <a:t>MODULE 1 — PAYSLIP ANALYSIS</a:t>
            </a:r>
            <a:endParaRPr lang="en-US" sz="1100" dirty="0"/>
          </a:p>
        </p:txBody>
      </p:sp>
      <p:sp>
        <p:nvSpPr>
          <p:cNvPr id="12" name="Shape 10"/>
          <p:cNvSpPr/>
          <p:nvPr/>
        </p:nvSpPr>
        <p:spPr>
          <a:xfrm>
            <a:off x="548640" y="3108960"/>
            <a:ext cx="5394960" cy="685800"/>
          </a:xfrm>
          <a:prstGeom prst="roundRect">
            <a:avLst>
              <a:gd name="adj" fmla="val 13333"/>
            </a:avLst>
          </a:prstGeom>
          <a:solidFill>
            <a:srgbClr val="FFFFFF"/>
          </a:solidFill>
          <a:ln/>
          <a:effectLst>
            <a:outerShdw blurRad="76200" dist="25400" dir="5400000" algn="bl" rotWithShape="0">
              <a:srgbClr val="16224D">
                <a:alpha val="15000"/>
              </a:srgbClr>
            </a:outerShdw>
          </a:effectLst>
        </p:spPr>
        <p:txBody>
          <a:bodyPr/>
          <a:lstStyle/>
          <a:p>
            <a:endParaRPr lang="en-IN"/>
          </a:p>
        </p:txBody>
      </p:sp>
      <p:sp>
        <p:nvSpPr>
          <p:cNvPr id="13" name="Text 11"/>
          <p:cNvSpPr/>
          <p:nvPr/>
        </p:nvSpPr>
        <p:spPr>
          <a:xfrm>
            <a:off x="548640" y="3108960"/>
            <a:ext cx="5394960" cy="685800"/>
          </a:xfrm>
          <a:prstGeom prst="rect">
            <a:avLst/>
          </a:prstGeom>
          <a:noFill/>
          <a:ln/>
        </p:spPr>
        <p:txBody>
          <a:bodyPr wrap="square" lIns="0" tIns="0" rIns="0" bIns="0" rtlCol="0" anchor="ctr"/>
          <a:lstStyle/>
          <a:p>
            <a:pPr marL="0" indent="0" algn="ctr">
              <a:buNone/>
            </a:pPr>
            <a:r>
              <a:rPr lang="en-US" sz="1250" b="1" dirty="0">
                <a:solidFill>
                  <a:srgbClr val="16224D"/>
                </a:solidFill>
                <a:latin typeface="Calibri" pitchFamily="34" charset="0"/>
                <a:ea typeface="Calibri" pitchFamily="34" charset="-122"/>
                <a:cs typeface="Calibri" pitchFamily="34" charset="-120"/>
              </a:rPr>
              <a:t>Upload Payslip</a:t>
            </a:r>
            <a:endParaRPr lang="en-US" sz="1250" dirty="0"/>
          </a:p>
        </p:txBody>
      </p:sp>
      <p:sp>
        <p:nvSpPr>
          <p:cNvPr id="14" name="Shape 12"/>
          <p:cNvSpPr/>
          <p:nvPr/>
        </p:nvSpPr>
        <p:spPr>
          <a:xfrm>
            <a:off x="3172968" y="3794760"/>
            <a:ext cx="146304" cy="256032"/>
          </a:xfrm>
          <a:prstGeom prst="downArrow">
            <a:avLst/>
          </a:prstGeom>
          <a:solidFill>
            <a:srgbClr val="AEB9D6"/>
          </a:solidFill>
          <a:ln/>
        </p:spPr>
        <p:txBody>
          <a:bodyPr/>
          <a:lstStyle/>
          <a:p>
            <a:endParaRPr lang="en-IN"/>
          </a:p>
        </p:txBody>
      </p:sp>
      <p:sp>
        <p:nvSpPr>
          <p:cNvPr id="15" name="Shape 13"/>
          <p:cNvSpPr/>
          <p:nvPr/>
        </p:nvSpPr>
        <p:spPr>
          <a:xfrm>
            <a:off x="548640" y="4050792"/>
            <a:ext cx="5394960" cy="685800"/>
          </a:xfrm>
          <a:prstGeom prst="roundRect">
            <a:avLst>
              <a:gd name="adj" fmla="val 13333"/>
            </a:avLst>
          </a:prstGeom>
          <a:solidFill>
            <a:srgbClr val="FFFFFF"/>
          </a:solidFill>
          <a:ln/>
          <a:effectLst>
            <a:outerShdw blurRad="76200" dist="25400" dir="5400000" algn="bl" rotWithShape="0">
              <a:srgbClr val="16224D">
                <a:alpha val="15000"/>
              </a:srgbClr>
            </a:outerShdw>
          </a:effectLst>
        </p:spPr>
        <p:txBody>
          <a:bodyPr/>
          <a:lstStyle/>
          <a:p>
            <a:endParaRPr lang="en-IN"/>
          </a:p>
        </p:txBody>
      </p:sp>
      <p:sp>
        <p:nvSpPr>
          <p:cNvPr id="16" name="Text 14"/>
          <p:cNvSpPr/>
          <p:nvPr/>
        </p:nvSpPr>
        <p:spPr>
          <a:xfrm>
            <a:off x="548640" y="4050792"/>
            <a:ext cx="5394960" cy="685800"/>
          </a:xfrm>
          <a:prstGeom prst="rect">
            <a:avLst/>
          </a:prstGeom>
          <a:noFill/>
          <a:ln/>
        </p:spPr>
        <p:txBody>
          <a:bodyPr wrap="square" lIns="0" tIns="0" rIns="0" bIns="0" rtlCol="0" anchor="ctr"/>
          <a:lstStyle/>
          <a:p>
            <a:pPr marL="0" indent="0" algn="ctr">
              <a:buNone/>
            </a:pPr>
            <a:r>
              <a:rPr lang="en-US" sz="1250" b="1" dirty="0">
                <a:solidFill>
                  <a:srgbClr val="16224D"/>
                </a:solidFill>
                <a:latin typeface="Calibri" pitchFamily="34" charset="0"/>
                <a:ea typeface="Calibri" pitchFamily="34" charset="-122"/>
                <a:cs typeface="Calibri" pitchFamily="34" charset="-120"/>
              </a:rPr>
              <a:t>OCR + Regex Extraction</a:t>
            </a:r>
            <a:endParaRPr lang="en-US" sz="1250" dirty="0"/>
          </a:p>
        </p:txBody>
      </p:sp>
      <p:sp>
        <p:nvSpPr>
          <p:cNvPr id="17" name="Shape 15"/>
          <p:cNvSpPr/>
          <p:nvPr/>
        </p:nvSpPr>
        <p:spPr>
          <a:xfrm>
            <a:off x="3172968" y="4736592"/>
            <a:ext cx="146304" cy="256032"/>
          </a:xfrm>
          <a:prstGeom prst="downArrow">
            <a:avLst/>
          </a:prstGeom>
          <a:solidFill>
            <a:srgbClr val="AEB9D6"/>
          </a:solidFill>
          <a:ln/>
        </p:spPr>
        <p:txBody>
          <a:bodyPr/>
          <a:lstStyle/>
          <a:p>
            <a:endParaRPr lang="en-IN"/>
          </a:p>
        </p:txBody>
      </p:sp>
      <p:sp>
        <p:nvSpPr>
          <p:cNvPr id="18" name="Shape 16"/>
          <p:cNvSpPr/>
          <p:nvPr/>
        </p:nvSpPr>
        <p:spPr>
          <a:xfrm>
            <a:off x="548640" y="4992624"/>
            <a:ext cx="5394960" cy="685800"/>
          </a:xfrm>
          <a:prstGeom prst="roundRect">
            <a:avLst>
              <a:gd name="adj" fmla="val 13333"/>
            </a:avLst>
          </a:prstGeom>
          <a:solidFill>
            <a:srgbClr val="FFFFFF"/>
          </a:solidFill>
          <a:ln/>
          <a:effectLst>
            <a:outerShdw blurRad="76200" dist="25400" dir="5400000" algn="bl" rotWithShape="0">
              <a:srgbClr val="16224D">
                <a:alpha val="15000"/>
              </a:srgbClr>
            </a:outerShdw>
          </a:effectLst>
        </p:spPr>
        <p:txBody>
          <a:bodyPr/>
          <a:lstStyle/>
          <a:p>
            <a:endParaRPr lang="en-IN"/>
          </a:p>
        </p:txBody>
      </p:sp>
      <p:sp>
        <p:nvSpPr>
          <p:cNvPr id="19" name="Text 17"/>
          <p:cNvSpPr/>
          <p:nvPr/>
        </p:nvSpPr>
        <p:spPr>
          <a:xfrm>
            <a:off x="548640" y="4992624"/>
            <a:ext cx="5394960" cy="685800"/>
          </a:xfrm>
          <a:prstGeom prst="rect">
            <a:avLst/>
          </a:prstGeom>
          <a:noFill/>
          <a:ln/>
        </p:spPr>
        <p:txBody>
          <a:bodyPr wrap="square" lIns="0" tIns="0" rIns="0" bIns="0" rtlCol="0" anchor="ctr"/>
          <a:lstStyle/>
          <a:p>
            <a:pPr marL="0" indent="0" algn="ctr">
              <a:buNone/>
            </a:pPr>
            <a:r>
              <a:rPr lang="en-US" sz="1250" b="1" dirty="0">
                <a:solidFill>
                  <a:srgbClr val="16224D"/>
                </a:solidFill>
                <a:latin typeface="Calibri" pitchFamily="34" charset="0"/>
                <a:ea typeface="Calibri" pitchFamily="34" charset="-122"/>
                <a:cs typeface="Calibri" pitchFamily="34" charset="-120"/>
              </a:rPr>
              <a:t>Eligibility Rule Engine</a:t>
            </a:r>
            <a:endParaRPr lang="en-US" sz="1250" dirty="0"/>
          </a:p>
        </p:txBody>
      </p:sp>
      <p:sp>
        <p:nvSpPr>
          <p:cNvPr id="20" name="Shape 18"/>
          <p:cNvSpPr/>
          <p:nvPr/>
        </p:nvSpPr>
        <p:spPr>
          <a:xfrm>
            <a:off x="3172968" y="5678424"/>
            <a:ext cx="146304" cy="256032"/>
          </a:xfrm>
          <a:prstGeom prst="downArrow">
            <a:avLst/>
          </a:prstGeom>
          <a:solidFill>
            <a:srgbClr val="AEB9D6"/>
          </a:solidFill>
          <a:ln/>
        </p:spPr>
        <p:txBody>
          <a:bodyPr/>
          <a:lstStyle/>
          <a:p>
            <a:endParaRPr lang="en-IN"/>
          </a:p>
        </p:txBody>
      </p:sp>
      <p:sp>
        <p:nvSpPr>
          <p:cNvPr id="21" name="Shape 19"/>
          <p:cNvSpPr/>
          <p:nvPr/>
        </p:nvSpPr>
        <p:spPr>
          <a:xfrm>
            <a:off x="548640" y="5934456"/>
            <a:ext cx="5394960" cy="685800"/>
          </a:xfrm>
          <a:prstGeom prst="roundRect">
            <a:avLst>
              <a:gd name="adj" fmla="val 13333"/>
            </a:avLst>
          </a:prstGeom>
          <a:solidFill>
            <a:srgbClr val="E29A3E"/>
          </a:solidFill>
          <a:ln/>
          <a:effectLst>
            <a:outerShdw blurRad="76200" dist="25400" dir="5400000" algn="bl" rotWithShape="0">
              <a:srgbClr val="16224D">
                <a:alpha val="15000"/>
              </a:srgbClr>
            </a:outerShdw>
          </a:effectLst>
        </p:spPr>
        <p:txBody>
          <a:bodyPr/>
          <a:lstStyle/>
          <a:p>
            <a:endParaRPr lang="en-IN"/>
          </a:p>
        </p:txBody>
      </p:sp>
      <p:sp>
        <p:nvSpPr>
          <p:cNvPr id="22" name="Text 20"/>
          <p:cNvSpPr/>
          <p:nvPr/>
        </p:nvSpPr>
        <p:spPr>
          <a:xfrm>
            <a:off x="548640" y="5934456"/>
            <a:ext cx="5394960" cy="685800"/>
          </a:xfrm>
          <a:prstGeom prst="rect">
            <a:avLst/>
          </a:prstGeom>
          <a:noFill/>
          <a:ln/>
        </p:spPr>
        <p:txBody>
          <a:bodyPr wrap="square" lIns="0" tIns="0" rIns="0" bIns="0" rtlCol="0" anchor="ctr"/>
          <a:lstStyle/>
          <a:p>
            <a:pPr marL="0" indent="0" algn="ctr">
              <a:buNone/>
            </a:pPr>
            <a:r>
              <a:rPr lang="en-US" sz="1250" b="1" dirty="0">
                <a:solidFill>
                  <a:srgbClr val="16224D"/>
                </a:solidFill>
                <a:latin typeface="Calibri" pitchFamily="34" charset="0"/>
                <a:ea typeface="Calibri" pitchFamily="34" charset="-122"/>
                <a:cs typeface="Calibri" pitchFamily="34" charset="-120"/>
              </a:rPr>
              <a:t>Pie Chart + Verdict</a:t>
            </a:r>
            <a:endParaRPr lang="en-US" sz="1250" dirty="0"/>
          </a:p>
        </p:txBody>
      </p:sp>
      <p:sp>
        <p:nvSpPr>
          <p:cNvPr id="23" name="Text 21"/>
          <p:cNvSpPr/>
          <p:nvPr/>
        </p:nvSpPr>
        <p:spPr>
          <a:xfrm>
            <a:off x="6263640" y="2743200"/>
            <a:ext cx="5394960" cy="274320"/>
          </a:xfrm>
          <a:prstGeom prst="rect">
            <a:avLst/>
          </a:prstGeom>
          <a:noFill/>
          <a:ln/>
        </p:spPr>
        <p:txBody>
          <a:bodyPr wrap="square" lIns="0" tIns="0" rIns="0" bIns="0" rtlCol="0" anchor="ctr"/>
          <a:lstStyle/>
          <a:p>
            <a:pPr marL="0" indent="0">
              <a:buNone/>
            </a:pPr>
            <a:r>
              <a:rPr lang="en-US" sz="1100" b="1" kern="0" spc="150" dirty="0">
                <a:solidFill>
                  <a:srgbClr val="E29A3E"/>
                </a:solidFill>
                <a:latin typeface="Calibri" pitchFamily="34" charset="0"/>
                <a:ea typeface="Calibri" pitchFamily="34" charset="-122"/>
                <a:cs typeface="Calibri" pitchFamily="34" charset="-120"/>
              </a:rPr>
              <a:t>MODULE 2 — BANK STATEMENT ANALYSIS</a:t>
            </a:r>
            <a:endParaRPr lang="en-US" sz="1100" dirty="0"/>
          </a:p>
        </p:txBody>
      </p:sp>
      <p:sp>
        <p:nvSpPr>
          <p:cNvPr id="24" name="Shape 22"/>
          <p:cNvSpPr/>
          <p:nvPr/>
        </p:nvSpPr>
        <p:spPr>
          <a:xfrm>
            <a:off x="6263640" y="3108960"/>
            <a:ext cx="5394960" cy="685800"/>
          </a:xfrm>
          <a:prstGeom prst="roundRect">
            <a:avLst>
              <a:gd name="adj" fmla="val 13333"/>
            </a:avLst>
          </a:prstGeom>
          <a:solidFill>
            <a:srgbClr val="FFFFFF"/>
          </a:solidFill>
          <a:ln/>
          <a:effectLst>
            <a:outerShdw blurRad="76200" dist="25400" dir="5400000" algn="bl" rotWithShape="0">
              <a:srgbClr val="16224D">
                <a:alpha val="15000"/>
              </a:srgbClr>
            </a:outerShdw>
          </a:effectLst>
        </p:spPr>
        <p:txBody>
          <a:bodyPr/>
          <a:lstStyle/>
          <a:p>
            <a:endParaRPr lang="en-IN"/>
          </a:p>
        </p:txBody>
      </p:sp>
      <p:sp>
        <p:nvSpPr>
          <p:cNvPr id="25" name="Text 23"/>
          <p:cNvSpPr/>
          <p:nvPr/>
        </p:nvSpPr>
        <p:spPr>
          <a:xfrm>
            <a:off x="6263640" y="3108960"/>
            <a:ext cx="5394960" cy="685800"/>
          </a:xfrm>
          <a:prstGeom prst="rect">
            <a:avLst/>
          </a:prstGeom>
          <a:noFill/>
          <a:ln/>
        </p:spPr>
        <p:txBody>
          <a:bodyPr wrap="square" lIns="0" tIns="0" rIns="0" bIns="0" rtlCol="0" anchor="ctr"/>
          <a:lstStyle/>
          <a:p>
            <a:pPr marL="0" indent="0" algn="ctr">
              <a:buNone/>
            </a:pPr>
            <a:r>
              <a:rPr lang="en-US" sz="1250" b="1" dirty="0">
                <a:solidFill>
                  <a:srgbClr val="16224D"/>
                </a:solidFill>
                <a:latin typeface="Calibri" pitchFamily="34" charset="0"/>
                <a:ea typeface="Calibri" pitchFamily="34" charset="-122"/>
                <a:cs typeface="Calibri" pitchFamily="34" charset="-120"/>
              </a:rPr>
              <a:t>Upload Bank Statement</a:t>
            </a:r>
            <a:endParaRPr lang="en-US" sz="1250" dirty="0"/>
          </a:p>
        </p:txBody>
      </p:sp>
      <p:sp>
        <p:nvSpPr>
          <p:cNvPr id="26" name="Shape 24"/>
          <p:cNvSpPr/>
          <p:nvPr/>
        </p:nvSpPr>
        <p:spPr>
          <a:xfrm>
            <a:off x="8887968" y="3794760"/>
            <a:ext cx="146304" cy="256032"/>
          </a:xfrm>
          <a:prstGeom prst="downArrow">
            <a:avLst/>
          </a:prstGeom>
          <a:solidFill>
            <a:srgbClr val="AEB9D6"/>
          </a:solidFill>
          <a:ln/>
        </p:spPr>
        <p:txBody>
          <a:bodyPr/>
          <a:lstStyle/>
          <a:p>
            <a:endParaRPr lang="en-IN"/>
          </a:p>
        </p:txBody>
      </p:sp>
      <p:sp>
        <p:nvSpPr>
          <p:cNvPr id="27" name="Shape 25"/>
          <p:cNvSpPr/>
          <p:nvPr/>
        </p:nvSpPr>
        <p:spPr>
          <a:xfrm>
            <a:off x="6263640" y="4050792"/>
            <a:ext cx="5394960" cy="685800"/>
          </a:xfrm>
          <a:prstGeom prst="roundRect">
            <a:avLst>
              <a:gd name="adj" fmla="val 13333"/>
            </a:avLst>
          </a:prstGeom>
          <a:solidFill>
            <a:srgbClr val="FFFFFF"/>
          </a:solidFill>
          <a:ln/>
          <a:effectLst>
            <a:outerShdw blurRad="76200" dist="25400" dir="5400000" algn="bl" rotWithShape="0">
              <a:srgbClr val="16224D">
                <a:alpha val="15000"/>
              </a:srgbClr>
            </a:outerShdw>
          </a:effectLst>
        </p:spPr>
        <p:txBody>
          <a:bodyPr/>
          <a:lstStyle/>
          <a:p>
            <a:endParaRPr lang="en-IN"/>
          </a:p>
        </p:txBody>
      </p:sp>
      <p:sp>
        <p:nvSpPr>
          <p:cNvPr id="28" name="Text 26"/>
          <p:cNvSpPr/>
          <p:nvPr/>
        </p:nvSpPr>
        <p:spPr>
          <a:xfrm>
            <a:off x="6263640" y="4050792"/>
            <a:ext cx="5394960" cy="685800"/>
          </a:xfrm>
          <a:prstGeom prst="rect">
            <a:avLst/>
          </a:prstGeom>
          <a:noFill/>
          <a:ln/>
        </p:spPr>
        <p:txBody>
          <a:bodyPr wrap="square" lIns="0" tIns="0" rIns="0" bIns="0" rtlCol="0" anchor="ctr"/>
          <a:lstStyle/>
          <a:p>
            <a:pPr marL="0" indent="0" algn="ctr">
              <a:buNone/>
            </a:pPr>
            <a:r>
              <a:rPr lang="en-US" sz="1250" b="1" dirty="0">
                <a:solidFill>
                  <a:srgbClr val="16224D"/>
                </a:solidFill>
                <a:latin typeface="Calibri" pitchFamily="34" charset="0"/>
                <a:ea typeface="Calibri" pitchFamily="34" charset="-122"/>
                <a:cs typeface="Calibri" pitchFamily="34" charset="-120"/>
              </a:rPr>
              <a:t>Transaction Parsing</a:t>
            </a:r>
            <a:endParaRPr lang="en-US" sz="1250" dirty="0"/>
          </a:p>
        </p:txBody>
      </p:sp>
      <p:sp>
        <p:nvSpPr>
          <p:cNvPr id="29" name="Shape 27"/>
          <p:cNvSpPr/>
          <p:nvPr/>
        </p:nvSpPr>
        <p:spPr>
          <a:xfrm>
            <a:off x="8887968" y="4736592"/>
            <a:ext cx="146304" cy="256032"/>
          </a:xfrm>
          <a:prstGeom prst="downArrow">
            <a:avLst/>
          </a:prstGeom>
          <a:solidFill>
            <a:srgbClr val="AEB9D6"/>
          </a:solidFill>
          <a:ln/>
        </p:spPr>
        <p:txBody>
          <a:bodyPr/>
          <a:lstStyle/>
          <a:p>
            <a:endParaRPr lang="en-IN"/>
          </a:p>
        </p:txBody>
      </p:sp>
      <p:sp>
        <p:nvSpPr>
          <p:cNvPr id="30" name="Shape 28"/>
          <p:cNvSpPr/>
          <p:nvPr/>
        </p:nvSpPr>
        <p:spPr>
          <a:xfrm>
            <a:off x="6263640" y="4992624"/>
            <a:ext cx="5394960" cy="685800"/>
          </a:xfrm>
          <a:prstGeom prst="roundRect">
            <a:avLst>
              <a:gd name="adj" fmla="val 13333"/>
            </a:avLst>
          </a:prstGeom>
          <a:solidFill>
            <a:srgbClr val="FFFFFF"/>
          </a:solidFill>
          <a:ln/>
          <a:effectLst>
            <a:outerShdw blurRad="76200" dist="25400" dir="5400000" algn="bl" rotWithShape="0">
              <a:srgbClr val="16224D">
                <a:alpha val="15000"/>
              </a:srgbClr>
            </a:outerShdw>
          </a:effectLst>
        </p:spPr>
        <p:txBody>
          <a:bodyPr/>
          <a:lstStyle/>
          <a:p>
            <a:endParaRPr lang="en-IN"/>
          </a:p>
        </p:txBody>
      </p:sp>
      <p:sp>
        <p:nvSpPr>
          <p:cNvPr id="31" name="Text 29"/>
          <p:cNvSpPr/>
          <p:nvPr/>
        </p:nvSpPr>
        <p:spPr>
          <a:xfrm>
            <a:off x="6263640" y="4992624"/>
            <a:ext cx="5394960" cy="685800"/>
          </a:xfrm>
          <a:prstGeom prst="rect">
            <a:avLst/>
          </a:prstGeom>
          <a:noFill/>
          <a:ln/>
        </p:spPr>
        <p:txBody>
          <a:bodyPr wrap="square" lIns="0" tIns="0" rIns="0" bIns="0" rtlCol="0" anchor="ctr"/>
          <a:lstStyle/>
          <a:p>
            <a:pPr marL="0" indent="0" algn="ctr">
              <a:buNone/>
            </a:pPr>
            <a:r>
              <a:rPr lang="en-US" sz="1250" b="1" dirty="0">
                <a:solidFill>
                  <a:srgbClr val="16224D"/>
                </a:solidFill>
                <a:latin typeface="Calibri" pitchFamily="34" charset="0"/>
                <a:ea typeface="Calibri" pitchFamily="34" charset="-122"/>
                <a:cs typeface="Calibri" pitchFamily="34" charset="-120"/>
              </a:rPr>
              <a:t>BERT Classification</a:t>
            </a:r>
            <a:endParaRPr lang="en-US" sz="1250" dirty="0"/>
          </a:p>
        </p:txBody>
      </p:sp>
      <p:sp>
        <p:nvSpPr>
          <p:cNvPr id="32" name="Shape 30"/>
          <p:cNvSpPr/>
          <p:nvPr/>
        </p:nvSpPr>
        <p:spPr>
          <a:xfrm>
            <a:off x="8887968" y="5678424"/>
            <a:ext cx="146304" cy="256032"/>
          </a:xfrm>
          <a:prstGeom prst="downArrow">
            <a:avLst/>
          </a:prstGeom>
          <a:solidFill>
            <a:srgbClr val="AEB9D6"/>
          </a:solidFill>
          <a:ln/>
        </p:spPr>
        <p:txBody>
          <a:bodyPr/>
          <a:lstStyle/>
          <a:p>
            <a:endParaRPr lang="en-IN"/>
          </a:p>
        </p:txBody>
      </p:sp>
      <p:sp>
        <p:nvSpPr>
          <p:cNvPr id="33" name="Shape 31"/>
          <p:cNvSpPr/>
          <p:nvPr/>
        </p:nvSpPr>
        <p:spPr>
          <a:xfrm>
            <a:off x="6263640" y="5934456"/>
            <a:ext cx="5394960" cy="685800"/>
          </a:xfrm>
          <a:prstGeom prst="roundRect">
            <a:avLst>
              <a:gd name="adj" fmla="val 13333"/>
            </a:avLst>
          </a:prstGeom>
          <a:solidFill>
            <a:srgbClr val="E29A3E"/>
          </a:solidFill>
          <a:ln/>
          <a:effectLst>
            <a:outerShdw blurRad="76200" dist="25400" dir="5400000" algn="bl" rotWithShape="0">
              <a:srgbClr val="16224D">
                <a:alpha val="15000"/>
              </a:srgbClr>
            </a:outerShdw>
          </a:effectLst>
        </p:spPr>
        <p:txBody>
          <a:bodyPr/>
          <a:lstStyle/>
          <a:p>
            <a:endParaRPr lang="en-IN"/>
          </a:p>
        </p:txBody>
      </p:sp>
      <p:sp>
        <p:nvSpPr>
          <p:cNvPr id="34" name="Text 32"/>
          <p:cNvSpPr/>
          <p:nvPr/>
        </p:nvSpPr>
        <p:spPr>
          <a:xfrm>
            <a:off x="6263640" y="5934456"/>
            <a:ext cx="5394960" cy="685800"/>
          </a:xfrm>
          <a:prstGeom prst="rect">
            <a:avLst/>
          </a:prstGeom>
          <a:noFill/>
          <a:ln/>
        </p:spPr>
        <p:txBody>
          <a:bodyPr wrap="square" lIns="0" tIns="0" rIns="0" bIns="0" rtlCol="0" anchor="ctr"/>
          <a:lstStyle/>
          <a:p>
            <a:pPr marL="0" indent="0" algn="ctr">
              <a:buNone/>
            </a:pPr>
            <a:r>
              <a:rPr lang="en-US" sz="1250" b="1" dirty="0">
                <a:solidFill>
                  <a:srgbClr val="16224D"/>
                </a:solidFill>
                <a:latin typeface="Calibri" pitchFamily="34" charset="0"/>
                <a:ea typeface="Calibri" pitchFamily="34" charset="-122"/>
                <a:cs typeface="Calibri" pitchFamily="34" charset="-120"/>
              </a:rPr>
              <a:t>Pie Chart + Bar Plot</a:t>
            </a:r>
            <a:endParaRPr lang="en-US" sz="1250" dirty="0"/>
          </a:p>
        </p:txBody>
      </p:sp>
      <p:sp>
        <p:nvSpPr>
          <p:cNvPr id="35" name="Text 33"/>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UNDER THE HOOD</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Technology Stack</a:t>
            </a:r>
            <a:endParaRPr lang="en-US" sz="3000" dirty="0"/>
          </a:p>
        </p:txBody>
      </p:sp>
      <p:sp>
        <p:nvSpPr>
          <p:cNvPr id="4" name="Shape 2"/>
          <p:cNvSpPr/>
          <p:nvPr/>
        </p:nvSpPr>
        <p:spPr>
          <a:xfrm>
            <a:off x="548640" y="1600200"/>
            <a:ext cx="2580894" cy="2020824"/>
          </a:xfrm>
          <a:prstGeom prst="roundRect">
            <a:avLst>
              <a:gd name="adj" fmla="val 4525"/>
            </a:avLst>
          </a:prstGeom>
          <a:solidFill>
            <a:srgbClr val="16224D"/>
          </a:solidFill>
          <a:ln/>
          <a:effectLst>
            <a:outerShdw blurRad="101600" dist="38100" dir="5400000" algn="bl" rotWithShape="0">
              <a:srgbClr val="16224D">
                <a:alpha val="20000"/>
              </a:srgbClr>
            </a:outerShdw>
          </a:effectLst>
        </p:spPr>
        <p:txBody>
          <a:bodyPr/>
          <a:lstStyle/>
          <a:p>
            <a:endParaRPr lang="en-IN"/>
          </a:p>
        </p:txBody>
      </p:sp>
      <p:sp>
        <p:nvSpPr>
          <p:cNvPr id="5" name="Shape 3"/>
          <p:cNvSpPr/>
          <p:nvPr/>
        </p:nvSpPr>
        <p:spPr>
          <a:xfrm>
            <a:off x="749808" y="1801368"/>
            <a:ext cx="512064" cy="512064"/>
          </a:xfrm>
          <a:prstGeom prst="roundRect">
            <a:avLst>
              <a:gd name="adj" fmla="val 25000"/>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6" name="Image 0" descr="/home/claude/icons/FaCode.png"/>
          <p:cNvPicPr>
            <a:picLocks noChangeAspect="1"/>
          </p:cNvPicPr>
          <p:nvPr/>
        </p:nvPicPr>
        <p:blipFill>
          <a:blip r:embed="rId3"/>
          <a:stretch>
            <a:fillRect/>
          </a:stretch>
        </p:blipFill>
        <p:spPr>
          <a:xfrm>
            <a:off x="872703" y="1924263"/>
            <a:ext cx="266273" cy="266273"/>
          </a:xfrm>
          <a:prstGeom prst="rect">
            <a:avLst/>
          </a:prstGeom>
        </p:spPr>
      </p:pic>
      <p:sp>
        <p:nvSpPr>
          <p:cNvPr id="7" name="Text 4"/>
          <p:cNvSpPr/>
          <p:nvPr/>
        </p:nvSpPr>
        <p:spPr>
          <a:xfrm>
            <a:off x="749808" y="2468880"/>
            <a:ext cx="2178558"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Language</a:t>
            </a:r>
            <a:endParaRPr lang="en-US" sz="1200" dirty="0"/>
          </a:p>
        </p:txBody>
      </p:sp>
      <p:sp>
        <p:nvSpPr>
          <p:cNvPr id="8" name="Text 5"/>
          <p:cNvSpPr/>
          <p:nvPr/>
        </p:nvSpPr>
        <p:spPr>
          <a:xfrm>
            <a:off x="749808" y="2807208"/>
            <a:ext cx="2178558" cy="640080"/>
          </a:xfrm>
          <a:prstGeom prst="rect">
            <a:avLst/>
          </a:prstGeom>
          <a:noFill/>
          <a:ln/>
        </p:spPr>
        <p:txBody>
          <a:bodyPr wrap="square" lIns="0" tIns="0" rIns="0" bIns="0" rtlCol="0" anchor="ctr"/>
          <a:lstStyle/>
          <a:p>
            <a:pPr marL="0" indent="0">
              <a:lnSpc>
                <a:spcPct val="110000"/>
              </a:lnSpc>
              <a:buNone/>
            </a:pPr>
            <a:r>
              <a:rPr lang="en-US" sz="1050" dirty="0">
                <a:solidFill>
                  <a:srgbClr val="C9D3EC"/>
                </a:solidFill>
                <a:latin typeface="Calibri" pitchFamily="34" charset="0"/>
                <a:ea typeface="Calibri" pitchFamily="34" charset="-122"/>
                <a:cs typeface="Calibri" pitchFamily="34" charset="-120"/>
              </a:rPr>
              <a:t>Python 3</a:t>
            </a:r>
            <a:endParaRPr lang="en-US" sz="1050" dirty="0"/>
          </a:p>
        </p:txBody>
      </p:sp>
      <p:sp>
        <p:nvSpPr>
          <p:cNvPr id="9" name="Shape 6"/>
          <p:cNvSpPr/>
          <p:nvPr/>
        </p:nvSpPr>
        <p:spPr>
          <a:xfrm>
            <a:off x="3385566" y="1600200"/>
            <a:ext cx="2580894" cy="2020824"/>
          </a:xfrm>
          <a:prstGeom prst="roundRect">
            <a:avLst>
              <a:gd name="adj" fmla="val 4525"/>
            </a:avLst>
          </a:prstGeom>
          <a:solidFill>
            <a:srgbClr val="16224D"/>
          </a:solidFill>
          <a:ln/>
          <a:effectLst>
            <a:outerShdw blurRad="101600" dist="38100" dir="5400000" algn="bl" rotWithShape="0">
              <a:srgbClr val="16224D">
                <a:alpha val="20000"/>
              </a:srgbClr>
            </a:outerShdw>
          </a:effectLst>
        </p:spPr>
        <p:txBody>
          <a:bodyPr/>
          <a:lstStyle/>
          <a:p>
            <a:endParaRPr lang="en-IN"/>
          </a:p>
        </p:txBody>
      </p:sp>
      <p:sp>
        <p:nvSpPr>
          <p:cNvPr id="10" name="Shape 7"/>
          <p:cNvSpPr/>
          <p:nvPr/>
        </p:nvSpPr>
        <p:spPr>
          <a:xfrm>
            <a:off x="3586734" y="1801368"/>
            <a:ext cx="512064" cy="512064"/>
          </a:xfrm>
          <a:prstGeom prst="roundRect">
            <a:avLst>
              <a:gd name="adj" fmla="val 25000"/>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11" name="Image 1" descr="/home/claude/icons/FaLayerGroup.png"/>
          <p:cNvPicPr>
            <a:picLocks noChangeAspect="1"/>
          </p:cNvPicPr>
          <p:nvPr/>
        </p:nvPicPr>
        <p:blipFill>
          <a:blip r:embed="rId4"/>
          <a:stretch>
            <a:fillRect/>
          </a:stretch>
        </p:blipFill>
        <p:spPr>
          <a:xfrm>
            <a:off x="3709629" y="1924263"/>
            <a:ext cx="266273" cy="266273"/>
          </a:xfrm>
          <a:prstGeom prst="rect">
            <a:avLst/>
          </a:prstGeom>
        </p:spPr>
      </p:pic>
      <p:sp>
        <p:nvSpPr>
          <p:cNvPr id="12" name="Text 8"/>
          <p:cNvSpPr/>
          <p:nvPr/>
        </p:nvSpPr>
        <p:spPr>
          <a:xfrm>
            <a:off x="3586734" y="2468880"/>
            <a:ext cx="2178558"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Backend Framework</a:t>
            </a:r>
            <a:endParaRPr lang="en-US" sz="1200" dirty="0"/>
          </a:p>
        </p:txBody>
      </p:sp>
      <p:sp>
        <p:nvSpPr>
          <p:cNvPr id="13" name="Text 9"/>
          <p:cNvSpPr/>
          <p:nvPr/>
        </p:nvSpPr>
        <p:spPr>
          <a:xfrm>
            <a:off x="3586734" y="2807208"/>
            <a:ext cx="2178558" cy="640080"/>
          </a:xfrm>
          <a:prstGeom prst="rect">
            <a:avLst/>
          </a:prstGeom>
          <a:noFill/>
          <a:ln/>
        </p:spPr>
        <p:txBody>
          <a:bodyPr wrap="square" lIns="0" tIns="0" rIns="0" bIns="0" rtlCol="0" anchor="ctr"/>
          <a:lstStyle/>
          <a:p>
            <a:pPr marL="0" indent="0">
              <a:lnSpc>
                <a:spcPct val="110000"/>
              </a:lnSpc>
              <a:buNone/>
            </a:pPr>
            <a:r>
              <a:rPr lang="en-US" sz="1050" dirty="0">
                <a:solidFill>
                  <a:srgbClr val="C9D3EC"/>
                </a:solidFill>
                <a:latin typeface="Calibri" pitchFamily="34" charset="0"/>
                <a:ea typeface="Calibri" pitchFamily="34" charset="-122"/>
                <a:cs typeface="Calibri" pitchFamily="34" charset="-120"/>
              </a:rPr>
              <a:t>Flask</a:t>
            </a:r>
            <a:endParaRPr lang="en-US" sz="1050" dirty="0"/>
          </a:p>
        </p:txBody>
      </p:sp>
      <p:sp>
        <p:nvSpPr>
          <p:cNvPr id="14" name="Shape 10"/>
          <p:cNvSpPr/>
          <p:nvPr/>
        </p:nvSpPr>
        <p:spPr>
          <a:xfrm>
            <a:off x="6222492" y="1600200"/>
            <a:ext cx="2580894" cy="2020824"/>
          </a:xfrm>
          <a:prstGeom prst="roundRect">
            <a:avLst>
              <a:gd name="adj" fmla="val 4525"/>
            </a:avLst>
          </a:prstGeom>
          <a:solidFill>
            <a:srgbClr val="16224D"/>
          </a:solidFill>
          <a:ln/>
          <a:effectLst>
            <a:outerShdw blurRad="101600" dist="38100" dir="5400000" algn="bl" rotWithShape="0">
              <a:srgbClr val="16224D">
                <a:alpha val="20000"/>
              </a:srgbClr>
            </a:outerShdw>
          </a:effectLst>
        </p:spPr>
        <p:txBody>
          <a:bodyPr/>
          <a:lstStyle/>
          <a:p>
            <a:endParaRPr lang="en-IN"/>
          </a:p>
        </p:txBody>
      </p:sp>
      <p:sp>
        <p:nvSpPr>
          <p:cNvPr id="15" name="Shape 11"/>
          <p:cNvSpPr/>
          <p:nvPr/>
        </p:nvSpPr>
        <p:spPr>
          <a:xfrm>
            <a:off x="6423660" y="1801368"/>
            <a:ext cx="512064" cy="512064"/>
          </a:xfrm>
          <a:prstGeom prst="roundRect">
            <a:avLst>
              <a:gd name="adj" fmla="val 25000"/>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16" name="Image 2" descr="/home/claude/icons/FaHome.png"/>
          <p:cNvPicPr>
            <a:picLocks noChangeAspect="1"/>
          </p:cNvPicPr>
          <p:nvPr/>
        </p:nvPicPr>
        <p:blipFill>
          <a:blip r:embed="rId5"/>
          <a:stretch>
            <a:fillRect/>
          </a:stretch>
        </p:blipFill>
        <p:spPr>
          <a:xfrm>
            <a:off x="6546555" y="1924263"/>
            <a:ext cx="266273" cy="266273"/>
          </a:xfrm>
          <a:prstGeom prst="rect">
            <a:avLst/>
          </a:prstGeom>
        </p:spPr>
      </p:pic>
      <p:sp>
        <p:nvSpPr>
          <p:cNvPr id="17" name="Text 12"/>
          <p:cNvSpPr/>
          <p:nvPr/>
        </p:nvSpPr>
        <p:spPr>
          <a:xfrm>
            <a:off x="6423660" y="2468880"/>
            <a:ext cx="2178558"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Frontend</a:t>
            </a:r>
            <a:endParaRPr lang="en-US" sz="1200" dirty="0"/>
          </a:p>
        </p:txBody>
      </p:sp>
      <p:sp>
        <p:nvSpPr>
          <p:cNvPr id="18" name="Text 13"/>
          <p:cNvSpPr/>
          <p:nvPr/>
        </p:nvSpPr>
        <p:spPr>
          <a:xfrm>
            <a:off x="6423660" y="2807208"/>
            <a:ext cx="2178558" cy="640080"/>
          </a:xfrm>
          <a:prstGeom prst="rect">
            <a:avLst/>
          </a:prstGeom>
          <a:noFill/>
          <a:ln/>
        </p:spPr>
        <p:txBody>
          <a:bodyPr wrap="square" lIns="0" tIns="0" rIns="0" bIns="0" rtlCol="0" anchor="ctr"/>
          <a:lstStyle/>
          <a:p>
            <a:pPr marL="0" indent="0">
              <a:lnSpc>
                <a:spcPct val="110000"/>
              </a:lnSpc>
              <a:buNone/>
            </a:pPr>
            <a:r>
              <a:rPr lang="en-US" sz="1050" dirty="0">
                <a:solidFill>
                  <a:srgbClr val="C9D3EC"/>
                </a:solidFill>
                <a:latin typeface="Calibri" pitchFamily="34" charset="0"/>
                <a:ea typeface="Calibri" pitchFamily="34" charset="-122"/>
                <a:cs typeface="Calibri" pitchFamily="34" charset="-120"/>
              </a:rPr>
              <a:t>HTML5, CSS3, JavaScript</a:t>
            </a:r>
            <a:endParaRPr lang="en-US" sz="1050" dirty="0"/>
          </a:p>
        </p:txBody>
      </p:sp>
      <p:sp>
        <p:nvSpPr>
          <p:cNvPr id="19" name="Shape 14"/>
          <p:cNvSpPr/>
          <p:nvPr/>
        </p:nvSpPr>
        <p:spPr>
          <a:xfrm>
            <a:off x="9059418" y="1600200"/>
            <a:ext cx="2580894" cy="2020824"/>
          </a:xfrm>
          <a:prstGeom prst="roundRect">
            <a:avLst>
              <a:gd name="adj" fmla="val 4525"/>
            </a:avLst>
          </a:prstGeom>
          <a:solidFill>
            <a:srgbClr val="16224D"/>
          </a:solidFill>
          <a:ln/>
          <a:effectLst>
            <a:outerShdw blurRad="101600" dist="38100" dir="5400000" algn="bl" rotWithShape="0">
              <a:srgbClr val="16224D">
                <a:alpha val="20000"/>
              </a:srgbClr>
            </a:outerShdw>
          </a:effectLst>
        </p:spPr>
        <p:txBody>
          <a:bodyPr/>
          <a:lstStyle/>
          <a:p>
            <a:endParaRPr lang="en-IN"/>
          </a:p>
        </p:txBody>
      </p:sp>
      <p:sp>
        <p:nvSpPr>
          <p:cNvPr id="20" name="Shape 15"/>
          <p:cNvSpPr/>
          <p:nvPr/>
        </p:nvSpPr>
        <p:spPr>
          <a:xfrm>
            <a:off x="9260586" y="1801368"/>
            <a:ext cx="512064" cy="512064"/>
          </a:xfrm>
          <a:prstGeom prst="roundRect">
            <a:avLst>
              <a:gd name="adj" fmla="val 25000"/>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21" name="Image 3" descr="/home/claude/icons/FaRobot.png"/>
          <p:cNvPicPr>
            <a:picLocks noChangeAspect="1"/>
          </p:cNvPicPr>
          <p:nvPr/>
        </p:nvPicPr>
        <p:blipFill>
          <a:blip r:embed="rId6"/>
          <a:stretch>
            <a:fillRect/>
          </a:stretch>
        </p:blipFill>
        <p:spPr>
          <a:xfrm>
            <a:off x="9383481" y="1924263"/>
            <a:ext cx="266273" cy="266273"/>
          </a:xfrm>
          <a:prstGeom prst="rect">
            <a:avLst/>
          </a:prstGeom>
        </p:spPr>
      </p:pic>
      <p:sp>
        <p:nvSpPr>
          <p:cNvPr id="22" name="Text 16"/>
          <p:cNvSpPr/>
          <p:nvPr/>
        </p:nvSpPr>
        <p:spPr>
          <a:xfrm>
            <a:off x="9260586" y="2468880"/>
            <a:ext cx="2178558"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ML Model</a:t>
            </a:r>
            <a:endParaRPr lang="en-US" sz="1200" dirty="0"/>
          </a:p>
        </p:txBody>
      </p:sp>
      <p:sp>
        <p:nvSpPr>
          <p:cNvPr id="23" name="Text 17"/>
          <p:cNvSpPr/>
          <p:nvPr/>
        </p:nvSpPr>
        <p:spPr>
          <a:xfrm>
            <a:off x="9260586" y="2807208"/>
            <a:ext cx="2178558" cy="640080"/>
          </a:xfrm>
          <a:prstGeom prst="rect">
            <a:avLst/>
          </a:prstGeom>
          <a:noFill/>
          <a:ln/>
        </p:spPr>
        <p:txBody>
          <a:bodyPr wrap="square" lIns="0" tIns="0" rIns="0" bIns="0" rtlCol="0" anchor="ctr"/>
          <a:lstStyle/>
          <a:p>
            <a:pPr marL="0" indent="0">
              <a:lnSpc>
                <a:spcPct val="110000"/>
              </a:lnSpc>
              <a:buNone/>
            </a:pPr>
            <a:r>
              <a:rPr lang="en-US" sz="1050" dirty="0">
                <a:solidFill>
                  <a:srgbClr val="C9D3EC"/>
                </a:solidFill>
                <a:latin typeface="Calibri" pitchFamily="34" charset="0"/>
                <a:ea typeface="Calibri" pitchFamily="34" charset="-122"/>
                <a:cs typeface="Calibri" pitchFamily="34" charset="-120"/>
              </a:rPr>
              <a:t>BERT (Transformers, PyTorch)</a:t>
            </a:r>
            <a:endParaRPr lang="en-US" sz="1050" dirty="0"/>
          </a:p>
        </p:txBody>
      </p:sp>
      <p:sp>
        <p:nvSpPr>
          <p:cNvPr id="24" name="Shape 18"/>
          <p:cNvSpPr/>
          <p:nvPr/>
        </p:nvSpPr>
        <p:spPr>
          <a:xfrm>
            <a:off x="548640" y="3877056"/>
            <a:ext cx="2580894" cy="2020824"/>
          </a:xfrm>
          <a:prstGeom prst="roundRect">
            <a:avLst>
              <a:gd name="adj" fmla="val 4525"/>
            </a:avLst>
          </a:prstGeom>
          <a:solidFill>
            <a:srgbClr val="16224D"/>
          </a:solidFill>
          <a:ln/>
          <a:effectLst>
            <a:outerShdw blurRad="101600" dist="38100" dir="5400000" algn="bl" rotWithShape="0">
              <a:srgbClr val="16224D">
                <a:alpha val="20000"/>
              </a:srgbClr>
            </a:outerShdw>
          </a:effectLst>
        </p:spPr>
        <p:txBody>
          <a:bodyPr/>
          <a:lstStyle/>
          <a:p>
            <a:endParaRPr lang="en-IN"/>
          </a:p>
        </p:txBody>
      </p:sp>
      <p:sp>
        <p:nvSpPr>
          <p:cNvPr id="25" name="Shape 19"/>
          <p:cNvSpPr/>
          <p:nvPr/>
        </p:nvSpPr>
        <p:spPr>
          <a:xfrm>
            <a:off x="749808" y="4078224"/>
            <a:ext cx="512064" cy="512064"/>
          </a:xfrm>
          <a:prstGeom prst="roundRect">
            <a:avLst>
              <a:gd name="adj" fmla="val 25000"/>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26" name="Image 4" descr="/home/claude/icons/FaFileInvoiceDollar.png"/>
          <p:cNvPicPr>
            <a:picLocks noChangeAspect="1"/>
          </p:cNvPicPr>
          <p:nvPr/>
        </p:nvPicPr>
        <p:blipFill>
          <a:blip r:embed="rId7"/>
          <a:stretch>
            <a:fillRect/>
          </a:stretch>
        </p:blipFill>
        <p:spPr>
          <a:xfrm>
            <a:off x="872703" y="4201119"/>
            <a:ext cx="266273" cy="266273"/>
          </a:xfrm>
          <a:prstGeom prst="rect">
            <a:avLst/>
          </a:prstGeom>
        </p:spPr>
      </p:pic>
      <p:sp>
        <p:nvSpPr>
          <p:cNvPr id="27" name="Text 20"/>
          <p:cNvSpPr/>
          <p:nvPr/>
        </p:nvSpPr>
        <p:spPr>
          <a:xfrm>
            <a:off x="749808" y="4745736"/>
            <a:ext cx="2178558"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OCR / Parsing</a:t>
            </a:r>
            <a:endParaRPr lang="en-US" sz="1200" dirty="0"/>
          </a:p>
        </p:txBody>
      </p:sp>
      <p:sp>
        <p:nvSpPr>
          <p:cNvPr id="28" name="Text 21"/>
          <p:cNvSpPr/>
          <p:nvPr/>
        </p:nvSpPr>
        <p:spPr>
          <a:xfrm>
            <a:off x="749808" y="5084064"/>
            <a:ext cx="2178558" cy="640080"/>
          </a:xfrm>
          <a:prstGeom prst="rect">
            <a:avLst/>
          </a:prstGeom>
          <a:noFill/>
          <a:ln/>
        </p:spPr>
        <p:txBody>
          <a:bodyPr wrap="square" lIns="0" tIns="0" rIns="0" bIns="0" rtlCol="0" anchor="ctr"/>
          <a:lstStyle/>
          <a:p>
            <a:pPr marL="0" indent="0">
              <a:lnSpc>
                <a:spcPct val="110000"/>
              </a:lnSpc>
              <a:buNone/>
            </a:pPr>
            <a:r>
              <a:rPr lang="en-US" sz="1050" dirty="0">
                <a:solidFill>
                  <a:srgbClr val="C9D3EC"/>
                </a:solidFill>
                <a:latin typeface="Calibri" pitchFamily="34" charset="0"/>
                <a:ea typeface="Calibri" pitchFamily="34" charset="-122"/>
                <a:cs typeface="Calibri" pitchFamily="34" charset="-120"/>
              </a:rPr>
              <a:t>Tesseract OCR, pdfplumber, Regex</a:t>
            </a:r>
            <a:endParaRPr lang="en-US" sz="1050" dirty="0"/>
          </a:p>
        </p:txBody>
      </p:sp>
      <p:sp>
        <p:nvSpPr>
          <p:cNvPr id="29" name="Shape 22"/>
          <p:cNvSpPr/>
          <p:nvPr/>
        </p:nvSpPr>
        <p:spPr>
          <a:xfrm>
            <a:off x="3385566" y="3877056"/>
            <a:ext cx="2580894" cy="2020824"/>
          </a:xfrm>
          <a:prstGeom prst="roundRect">
            <a:avLst>
              <a:gd name="adj" fmla="val 4525"/>
            </a:avLst>
          </a:prstGeom>
          <a:solidFill>
            <a:srgbClr val="16224D"/>
          </a:solidFill>
          <a:ln/>
          <a:effectLst>
            <a:outerShdw blurRad="101600" dist="38100" dir="5400000" algn="bl" rotWithShape="0">
              <a:srgbClr val="16224D">
                <a:alpha val="20000"/>
              </a:srgbClr>
            </a:outerShdw>
          </a:effectLst>
        </p:spPr>
        <p:txBody>
          <a:bodyPr/>
          <a:lstStyle/>
          <a:p>
            <a:endParaRPr lang="en-IN"/>
          </a:p>
        </p:txBody>
      </p:sp>
      <p:sp>
        <p:nvSpPr>
          <p:cNvPr id="30" name="Shape 23"/>
          <p:cNvSpPr/>
          <p:nvPr/>
        </p:nvSpPr>
        <p:spPr>
          <a:xfrm>
            <a:off x="3586734" y="4078224"/>
            <a:ext cx="512064" cy="512064"/>
          </a:xfrm>
          <a:prstGeom prst="roundRect">
            <a:avLst>
              <a:gd name="adj" fmla="val 25000"/>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31" name="Image 5" descr="/home/claude/icons/FaDatabase.png"/>
          <p:cNvPicPr>
            <a:picLocks noChangeAspect="1"/>
          </p:cNvPicPr>
          <p:nvPr/>
        </p:nvPicPr>
        <p:blipFill>
          <a:blip r:embed="rId8"/>
          <a:stretch>
            <a:fillRect/>
          </a:stretch>
        </p:blipFill>
        <p:spPr>
          <a:xfrm>
            <a:off x="3709629" y="4201119"/>
            <a:ext cx="266273" cy="266273"/>
          </a:xfrm>
          <a:prstGeom prst="rect">
            <a:avLst/>
          </a:prstGeom>
        </p:spPr>
      </p:pic>
      <p:sp>
        <p:nvSpPr>
          <p:cNvPr id="32" name="Text 24"/>
          <p:cNvSpPr/>
          <p:nvPr/>
        </p:nvSpPr>
        <p:spPr>
          <a:xfrm>
            <a:off x="3586734" y="4745736"/>
            <a:ext cx="2178558"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Data Processing</a:t>
            </a:r>
            <a:endParaRPr lang="en-US" sz="1200" dirty="0"/>
          </a:p>
        </p:txBody>
      </p:sp>
      <p:sp>
        <p:nvSpPr>
          <p:cNvPr id="33" name="Text 25"/>
          <p:cNvSpPr/>
          <p:nvPr/>
        </p:nvSpPr>
        <p:spPr>
          <a:xfrm>
            <a:off x="3586734" y="5084064"/>
            <a:ext cx="2178558" cy="640080"/>
          </a:xfrm>
          <a:prstGeom prst="rect">
            <a:avLst/>
          </a:prstGeom>
          <a:noFill/>
          <a:ln/>
        </p:spPr>
        <p:txBody>
          <a:bodyPr wrap="square" lIns="0" tIns="0" rIns="0" bIns="0" rtlCol="0" anchor="ctr"/>
          <a:lstStyle/>
          <a:p>
            <a:pPr marL="0" indent="0">
              <a:lnSpc>
                <a:spcPct val="110000"/>
              </a:lnSpc>
              <a:buNone/>
            </a:pPr>
            <a:r>
              <a:rPr lang="en-US" sz="1050" dirty="0">
                <a:solidFill>
                  <a:srgbClr val="C9D3EC"/>
                </a:solidFill>
                <a:latin typeface="Calibri" pitchFamily="34" charset="0"/>
                <a:ea typeface="Calibri" pitchFamily="34" charset="-122"/>
                <a:cs typeface="Calibri" pitchFamily="34" charset="-120"/>
              </a:rPr>
              <a:t>Pandas, NumPy</a:t>
            </a:r>
            <a:endParaRPr lang="en-US" sz="1050" dirty="0"/>
          </a:p>
        </p:txBody>
      </p:sp>
      <p:sp>
        <p:nvSpPr>
          <p:cNvPr id="34" name="Shape 26"/>
          <p:cNvSpPr/>
          <p:nvPr/>
        </p:nvSpPr>
        <p:spPr>
          <a:xfrm>
            <a:off x="6222492" y="3877056"/>
            <a:ext cx="2580894" cy="2020824"/>
          </a:xfrm>
          <a:prstGeom prst="roundRect">
            <a:avLst>
              <a:gd name="adj" fmla="val 4525"/>
            </a:avLst>
          </a:prstGeom>
          <a:solidFill>
            <a:srgbClr val="16224D"/>
          </a:solidFill>
          <a:ln/>
          <a:effectLst>
            <a:outerShdw blurRad="101600" dist="38100" dir="5400000" algn="bl" rotWithShape="0">
              <a:srgbClr val="16224D">
                <a:alpha val="20000"/>
              </a:srgbClr>
            </a:outerShdw>
          </a:effectLst>
        </p:spPr>
        <p:txBody>
          <a:bodyPr/>
          <a:lstStyle/>
          <a:p>
            <a:endParaRPr lang="en-IN"/>
          </a:p>
        </p:txBody>
      </p:sp>
      <p:sp>
        <p:nvSpPr>
          <p:cNvPr id="35" name="Shape 27"/>
          <p:cNvSpPr/>
          <p:nvPr/>
        </p:nvSpPr>
        <p:spPr>
          <a:xfrm>
            <a:off x="6423660" y="4078224"/>
            <a:ext cx="512064" cy="512064"/>
          </a:xfrm>
          <a:prstGeom prst="roundRect">
            <a:avLst>
              <a:gd name="adj" fmla="val 25000"/>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36" name="Image 6" descr="/home/claude/icons/FaChartBar.png"/>
          <p:cNvPicPr>
            <a:picLocks noChangeAspect="1"/>
          </p:cNvPicPr>
          <p:nvPr/>
        </p:nvPicPr>
        <p:blipFill>
          <a:blip r:embed="rId9"/>
          <a:stretch>
            <a:fillRect/>
          </a:stretch>
        </p:blipFill>
        <p:spPr>
          <a:xfrm>
            <a:off x="6546555" y="4201119"/>
            <a:ext cx="266273" cy="266273"/>
          </a:xfrm>
          <a:prstGeom prst="rect">
            <a:avLst/>
          </a:prstGeom>
        </p:spPr>
      </p:pic>
      <p:sp>
        <p:nvSpPr>
          <p:cNvPr id="37" name="Text 28"/>
          <p:cNvSpPr/>
          <p:nvPr/>
        </p:nvSpPr>
        <p:spPr>
          <a:xfrm>
            <a:off x="6423660" y="4745736"/>
            <a:ext cx="2178558"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Visualization</a:t>
            </a:r>
            <a:endParaRPr lang="en-US" sz="1200" dirty="0"/>
          </a:p>
        </p:txBody>
      </p:sp>
      <p:sp>
        <p:nvSpPr>
          <p:cNvPr id="38" name="Text 29"/>
          <p:cNvSpPr/>
          <p:nvPr/>
        </p:nvSpPr>
        <p:spPr>
          <a:xfrm>
            <a:off x="6423660" y="5084064"/>
            <a:ext cx="2178558" cy="640080"/>
          </a:xfrm>
          <a:prstGeom prst="rect">
            <a:avLst/>
          </a:prstGeom>
          <a:noFill/>
          <a:ln/>
        </p:spPr>
        <p:txBody>
          <a:bodyPr wrap="square" lIns="0" tIns="0" rIns="0" bIns="0" rtlCol="0" anchor="ctr"/>
          <a:lstStyle/>
          <a:p>
            <a:pPr marL="0" indent="0">
              <a:lnSpc>
                <a:spcPct val="110000"/>
              </a:lnSpc>
              <a:buNone/>
            </a:pPr>
            <a:r>
              <a:rPr lang="en-US" sz="1050" dirty="0">
                <a:solidFill>
                  <a:srgbClr val="C9D3EC"/>
                </a:solidFill>
                <a:latin typeface="Calibri" pitchFamily="34" charset="0"/>
                <a:ea typeface="Calibri" pitchFamily="34" charset="-122"/>
                <a:cs typeface="Calibri" pitchFamily="34" charset="-120"/>
              </a:rPr>
              <a:t>Matplotlib</a:t>
            </a:r>
            <a:endParaRPr lang="en-US" sz="1050" dirty="0"/>
          </a:p>
        </p:txBody>
      </p:sp>
      <p:sp>
        <p:nvSpPr>
          <p:cNvPr id="39" name="Shape 30"/>
          <p:cNvSpPr/>
          <p:nvPr/>
        </p:nvSpPr>
        <p:spPr>
          <a:xfrm>
            <a:off x="9059418" y="3877056"/>
            <a:ext cx="2580894" cy="2020824"/>
          </a:xfrm>
          <a:prstGeom prst="roundRect">
            <a:avLst>
              <a:gd name="adj" fmla="val 4525"/>
            </a:avLst>
          </a:prstGeom>
          <a:solidFill>
            <a:srgbClr val="16224D"/>
          </a:solidFill>
          <a:ln/>
          <a:effectLst>
            <a:outerShdw blurRad="101600" dist="38100" dir="5400000" algn="bl" rotWithShape="0">
              <a:srgbClr val="16224D">
                <a:alpha val="20000"/>
              </a:srgbClr>
            </a:outerShdw>
          </a:effectLst>
        </p:spPr>
        <p:txBody>
          <a:bodyPr/>
          <a:lstStyle/>
          <a:p>
            <a:endParaRPr lang="en-IN"/>
          </a:p>
        </p:txBody>
      </p:sp>
      <p:sp>
        <p:nvSpPr>
          <p:cNvPr id="40" name="Shape 31"/>
          <p:cNvSpPr/>
          <p:nvPr/>
        </p:nvSpPr>
        <p:spPr>
          <a:xfrm>
            <a:off x="9260586" y="4078224"/>
            <a:ext cx="512064" cy="512064"/>
          </a:xfrm>
          <a:prstGeom prst="roundRect">
            <a:avLst>
              <a:gd name="adj" fmla="val 25000"/>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41" name="Image 7" descr="/home/claude/icons/FaShieldAlt.png"/>
          <p:cNvPicPr>
            <a:picLocks noChangeAspect="1"/>
          </p:cNvPicPr>
          <p:nvPr/>
        </p:nvPicPr>
        <p:blipFill>
          <a:blip r:embed="rId10"/>
          <a:stretch>
            <a:fillRect/>
          </a:stretch>
        </p:blipFill>
        <p:spPr>
          <a:xfrm>
            <a:off x="9383481" y="4201119"/>
            <a:ext cx="266273" cy="266273"/>
          </a:xfrm>
          <a:prstGeom prst="rect">
            <a:avLst/>
          </a:prstGeom>
        </p:spPr>
      </p:pic>
      <p:sp>
        <p:nvSpPr>
          <p:cNvPr id="42" name="Text 32"/>
          <p:cNvSpPr/>
          <p:nvPr/>
        </p:nvSpPr>
        <p:spPr>
          <a:xfrm>
            <a:off x="9260586" y="4745736"/>
            <a:ext cx="2178558" cy="32004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Auth &amp; Storage</a:t>
            </a:r>
            <a:endParaRPr lang="en-US" sz="1200" dirty="0"/>
          </a:p>
        </p:txBody>
      </p:sp>
      <p:sp>
        <p:nvSpPr>
          <p:cNvPr id="43" name="Text 33"/>
          <p:cNvSpPr/>
          <p:nvPr/>
        </p:nvSpPr>
        <p:spPr>
          <a:xfrm>
            <a:off x="9260586" y="5084064"/>
            <a:ext cx="2178558" cy="640080"/>
          </a:xfrm>
          <a:prstGeom prst="rect">
            <a:avLst/>
          </a:prstGeom>
          <a:noFill/>
          <a:ln/>
        </p:spPr>
        <p:txBody>
          <a:bodyPr wrap="square" lIns="0" tIns="0" rIns="0" bIns="0" rtlCol="0" anchor="ctr"/>
          <a:lstStyle/>
          <a:p>
            <a:pPr marL="0" indent="0">
              <a:lnSpc>
                <a:spcPct val="110000"/>
              </a:lnSpc>
              <a:buNone/>
            </a:pPr>
            <a:r>
              <a:rPr lang="en-US" sz="1050" dirty="0">
                <a:solidFill>
                  <a:srgbClr val="C9D3EC"/>
                </a:solidFill>
                <a:latin typeface="Calibri" pitchFamily="34" charset="0"/>
                <a:ea typeface="Calibri" pitchFamily="34" charset="-122"/>
                <a:cs typeface="Calibri" pitchFamily="34" charset="-120"/>
              </a:rPr>
              <a:t>Session Login, SQLite</a:t>
            </a:r>
            <a:endParaRPr lang="en-US" sz="1050" dirty="0"/>
          </a:p>
        </p:txBody>
      </p:sp>
      <p:sp>
        <p:nvSpPr>
          <p:cNvPr id="44" name="Text 34"/>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MODULE 01 — PAYSLIP ANALYSIS</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Salary Extraction &amp; Loan Eligibility</a:t>
            </a:r>
            <a:endParaRPr lang="en-US" sz="3000" dirty="0"/>
          </a:p>
        </p:txBody>
      </p:sp>
      <p:sp>
        <p:nvSpPr>
          <p:cNvPr id="4" name="Shape 2"/>
          <p:cNvSpPr/>
          <p:nvPr/>
        </p:nvSpPr>
        <p:spPr>
          <a:xfrm>
            <a:off x="548640" y="1554480"/>
            <a:ext cx="457200" cy="457200"/>
          </a:xfrm>
          <a:prstGeom prst="roundRect">
            <a:avLst>
              <a:gd name="adj" fmla="val 24000"/>
            </a:avLst>
          </a:prstGeom>
          <a:solidFill>
            <a:srgbClr val="16224D"/>
          </a:solidFill>
          <a:ln/>
        </p:spPr>
        <p:txBody>
          <a:bodyPr/>
          <a:lstStyle/>
          <a:p>
            <a:endParaRPr lang="en-IN"/>
          </a:p>
        </p:txBody>
      </p:sp>
      <p:sp>
        <p:nvSpPr>
          <p:cNvPr id="5" name="Text 3"/>
          <p:cNvSpPr/>
          <p:nvPr/>
        </p:nvSpPr>
        <p:spPr>
          <a:xfrm>
            <a:off x="548640" y="1554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508760"/>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Upload</a:t>
            </a:r>
            <a:endParaRPr lang="en-US" sz="1400" dirty="0"/>
          </a:p>
        </p:txBody>
      </p:sp>
      <p:sp>
        <p:nvSpPr>
          <p:cNvPr id="7" name="Text 5"/>
          <p:cNvSpPr/>
          <p:nvPr/>
        </p:nvSpPr>
        <p:spPr>
          <a:xfrm>
            <a:off x="1143000" y="1801368"/>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User uploads a payslip in PDF, JPG or PNG format</a:t>
            </a:r>
            <a:endParaRPr lang="en-US" sz="1150" dirty="0"/>
          </a:p>
        </p:txBody>
      </p:sp>
      <p:sp>
        <p:nvSpPr>
          <p:cNvPr id="8" name="Shape 6"/>
          <p:cNvSpPr/>
          <p:nvPr/>
        </p:nvSpPr>
        <p:spPr>
          <a:xfrm>
            <a:off x="548640" y="2395728"/>
            <a:ext cx="457200" cy="457200"/>
          </a:xfrm>
          <a:prstGeom prst="roundRect">
            <a:avLst>
              <a:gd name="adj" fmla="val 24000"/>
            </a:avLst>
          </a:prstGeom>
          <a:solidFill>
            <a:srgbClr val="16224D"/>
          </a:solidFill>
          <a:ln/>
        </p:spPr>
        <p:txBody>
          <a:bodyPr/>
          <a:lstStyle/>
          <a:p>
            <a:endParaRPr lang="en-IN"/>
          </a:p>
        </p:txBody>
      </p:sp>
      <p:sp>
        <p:nvSpPr>
          <p:cNvPr id="9" name="Text 7"/>
          <p:cNvSpPr/>
          <p:nvPr/>
        </p:nvSpPr>
        <p:spPr>
          <a:xfrm>
            <a:off x="548640" y="23957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43000" y="2350008"/>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Extract</a:t>
            </a:r>
            <a:endParaRPr lang="en-US" sz="1400" dirty="0"/>
          </a:p>
        </p:txBody>
      </p:sp>
      <p:sp>
        <p:nvSpPr>
          <p:cNvPr id="11" name="Text 9"/>
          <p:cNvSpPr/>
          <p:nvPr/>
        </p:nvSpPr>
        <p:spPr>
          <a:xfrm>
            <a:off x="1143000" y="2642616"/>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OCR + regex parsing detects Basic, HRA, Medical, Conveyance &amp; Other components</a:t>
            </a:r>
            <a:endParaRPr lang="en-US" sz="1150" dirty="0"/>
          </a:p>
        </p:txBody>
      </p:sp>
      <p:sp>
        <p:nvSpPr>
          <p:cNvPr id="12" name="Shape 10"/>
          <p:cNvSpPr/>
          <p:nvPr/>
        </p:nvSpPr>
        <p:spPr>
          <a:xfrm>
            <a:off x="548640" y="3236976"/>
            <a:ext cx="457200" cy="457200"/>
          </a:xfrm>
          <a:prstGeom prst="roundRect">
            <a:avLst>
              <a:gd name="adj" fmla="val 24000"/>
            </a:avLst>
          </a:prstGeom>
          <a:solidFill>
            <a:srgbClr val="16224D"/>
          </a:solidFill>
          <a:ln/>
        </p:spPr>
        <p:txBody>
          <a:bodyPr/>
          <a:lstStyle/>
          <a:p>
            <a:endParaRPr lang="en-IN"/>
          </a:p>
        </p:txBody>
      </p:sp>
      <p:sp>
        <p:nvSpPr>
          <p:cNvPr id="13" name="Text 11"/>
          <p:cNvSpPr/>
          <p:nvPr/>
        </p:nvSpPr>
        <p:spPr>
          <a:xfrm>
            <a:off x="548640" y="32369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3191256"/>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Compute</a:t>
            </a:r>
            <a:endParaRPr lang="en-US" sz="1400" dirty="0"/>
          </a:p>
        </p:txBody>
      </p:sp>
      <p:sp>
        <p:nvSpPr>
          <p:cNvPr id="15" name="Text 13"/>
          <p:cNvSpPr/>
          <p:nvPr/>
        </p:nvSpPr>
        <p:spPr>
          <a:xfrm>
            <a:off x="1143000" y="3483864"/>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System calculates Gross and Net monthly income from detected components</a:t>
            </a:r>
            <a:endParaRPr lang="en-US" sz="1150" dirty="0"/>
          </a:p>
        </p:txBody>
      </p:sp>
      <p:sp>
        <p:nvSpPr>
          <p:cNvPr id="16" name="Shape 14"/>
          <p:cNvSpPr/>
          <p:nvPr/>
        </p:nvSpPr>
        <p:spPr>
          <a:xfrm>
            <a:off x="548640" y="4078224"/>
            <a:ext cx="457200" cy="457200"/>
          </a:xfrm>
          <a:prstGeom prst="roundRect">
            <a:avLst>
              <a:gd name="adj" fmla="val 24000"/>
            </a:avLst>
          </a:prstGeom>
          <a:solidFill>
            <a:srgbClr val="16224D"/>
          </a:solidFill>
          <a:ln/>
        </p:spPr>
        <p:txBody>
          <a:bodyPr/>
          <a:lstStyle/>
          <a:p>
            <a:endParaRPr lang="en-IN"/>
          </a:p>
        </p:txBody>
      </p:sp>
      <p:sp>
        <p:nvSpPr>
          <p:cNvPr id="17" name="Text 15"/>
          <p:cNvSpPr/>
          <p:nvPr/>
        </p:nvSpPr>
        <p:spPr>
          <a:xfrm>
            <a:off x="548640" y="4078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43000" y="4032504"/>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Decide</a:t>
            </a:r>
            <a:endParaRPr lang="en-US" sz="1400" dirty="0"/>
          </a:p>
        </p:txBody>
      </p:sp>
      <p:sp>
        <p:nvSpPr>
          <p:cNvPr id="19" name="Text 17"/>
          <p:cNvSpPr/>
          <p:nvPr/>
        </p:nvSpPr>
        <p:spPr>
          <a:xfrm>
            <a:off x="1143000" y="4325112"/>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Net income is checked against the eligibility threshold to approve or reject the loan</a:t>
            </a:r>
            <a:endParaRPr lang="en-US" sz="1150" dirty="0"/>
          </a:p>
        </p:txBody>
      </p:sp>
      <p:sp>
        <p:nvSpPr>
          <p:cNvPr id="20" name="Shape 18"/>
          <p:cNvSpPr/>
          <p:nvPr/>
        </p:nvSpPr>
        <p:spPr>
          <a:xfrm>
            <a:off x="548640" y="4919472"/>
            <a:ext cx="457200" cy="457200"/>
          </a:xfrm>
          <a:prstGeom prst="roundRect">
            <a:avLst>
              <a:gd name="adj" fmla="val 24000"/>
            </a:avLst>
          </a:prstGeom>
          <a:solidFill>
            <a:srgbClr val="16224D"/>
          </a:solidFill>
          <a:ln/>
        </p:spPr>
        <p:txBody>
          <a:bodyPr/>
          <a:lstStyle/>
          <a:p>
            <a:endParaRPr lang="en-IN"/>
          </a:p>
        </p:txBody>
      </p:sp>
      <p:sp>
        <p:nvSpPr>
          <p:cNvPr id="21" name="Text 19"/>
          <p:cNvSpPr/>
          <p:nvPr/>
        </p:nvSpPr>
        <p:spPr>
          <a:xfrm>
            <a:off x="548640" y="491947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43000" y="4873752"/>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Visualize</a:t>
            </a:r>
            <a:endParaRPr lang="en-US" sz="1400" dirty="0"/>
          </a:p>
        </p:txBody>
      </p:sp>
      <p:sp>
        <p:nvSpPr>
          <p:cNvPr id="23" name="Text 21"/>
          <p:cNvSpPr/>
          <p:nvPr/>
        </p:nvSpPr>
        <p:spPr>
          <a:xfrm>
            <a:off x="1143000" y="5166360"/>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Salary structure is rendered as an interactive pie chart</a:t>
            </a:r>
            <a:endParaRPr lang="en-US" sz="1150" dirty="0"/>
          </a:p>
        </p:txBody>
      </p:sp>
      <p:sp>
        <p:nvSpPr>
          <p:cNvPr id="24" name="Shape 22"/>
          <p:cNvSpPr/>
          <p:nvPr/>
        </p:nvSpPr>
        <p:spPr>
          <a:xfrm>
            <a:off x="7360920" y="1554480"/>
            <a:ext cx="4297680" cy="4617720"/>
          </a:xfrm>
          <a:prstGeom prst="roundRect">
            <a:avLst>
              <a:gd name="adj" fmla="val 2979"/>
            </a:avLst>
          </a:prstGeom>
          <a:solidFill>
            <a:srgbClr val="16224D"/>
          </a:solidFill>
          <a:ln/>
        </p:spPr>
        <p:txBody>
          <a:bodyPr/>
          <a:lstStyle/>
          <a:p>
            <a:endParaRPr lang="en-IN"/>
          </a:p>
        </p:txBody>
      </p:sp>
      <p:sp>
        <p:nvSpPr>
          <p:cNvPr id="25" name="Shape 23"/>
          <p:cNvSpPr/>
          <p:nvPr/>
        </p:nvSpPr>
        <p:spPr>
          <a:xfrm>
            <a:off x="9189720" y="1920240"/>
            <a:ext cx="640080" cy="640080"/>
          </a:xfrm>
          <a:prstGeom prst="roundRect">
            <a:avLst>
              <a:gd name="adj" fmla="val 25714"/>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26" name="Image 0" descr="/home/claude/icons/FaMoneyBillWave.png"/>
          <p:cNvPicPr>
            <a:picLocks noChangeAspect="1"/>
          </p:cNvPicPr>
          <p:nvPr/>
        </p:nvPicPr>
        <p:blipFill>
          <a:blip r:embed="rId3"/>
          <a:stretch>
            <a:fillRect/>
          </a:stretch>
        </p:blipFill>
        <p:spPr>
          <a:xfrm>
            <a:off x="9343339" y="2073859"/>
            <a:ext cx="332842" cy="332842"/>
          </a:xfrm>
          <a:prstGeom prst="rect">
            <a:avLst/>
          </a:prstGeom>
        </p:spPr>
      </p:pic>
      <p:sp>
        <p:nvSpPr>
          <p:cNvPr id="27" name="Text 24"/>
          <p:cNvSpPr/>
          <p:nvPr/>
        </p:nvSpPr>
        <p:spPr>
          <a:xfrm>
            <a:off x="7635240" y="2743200"/>
            <a:ext cx="374904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Eligibility Rule</a:t>
            </a:r>
            <a:endParaRPr lang="en-US" sz="1700" dirty="0"/>
          </a:p>
        </p:txBody>
      </p:sp>
      <p:sp>
        <p:nvSpPr>
          <p:cNvPr id="28" name="Text 25"/>
          <p:cNvSpPr/>
          <p:nvPr/>
        </p:nvSpPr>
        <p:spPr>
          <a:xfrm>
            <a:off x="7635240" y="3200400"/>
            <a:ext cx="3749040" cy="777240"/>
          </a:xfrm>
          <a:prstGeom prst="rect">
            <a:avLst/>
          </a:prstGeom>
          <a:noFill/>
          <a:ln/>
        </p:spPr>
        <p:txBody>
          <a:bodyPr wrap="square" lIns="0" tIns="0" rIns="0" bIns="0" rtlCol="0" anchor="ctr"/>
          <a:lstStyle/>
          <a:p>
            <a:pPr marL="0" indent="0" algn="ctr">
              <a:buNone/>
            </a:pPr>
            <a:r>
              <a:rPr lang="en-US" sz="4400" b="1" dirty="0">
                <a:solidFill>
                  <a:srgbClr val="E29A3E"/>
                </a:solidFill>
                <a:latin typeface="Cambria" pitchFamily="34" charset="0"/>
                <a:ea typeface="Cambria" pitchFamily="34" charset="-122"/>
                <a:cs typeface="Cambria" pitchFamily="34" charset="-120"/>
              </a:rPr>
              <a:t>₹ 20,000</a:t>
            </a:r>
            <a:endParaRPr lang="en-US" sz="4400" dirty="0"/>
          </a:p>
        </p:txBody>
      </p:sp>
      <p:sp>
        <p:nvSpPr>
          <p:cNvPr id="29" name="Text 26"/>
          <p:cNvSpPr/>
          <p:nvPr/>
        </p:nvSpPr>
        <p:spPr>
          <a:xfrm>
            <a:off x="7818120" y="3977640"/>
            <a:ext cx="3383280" cy="548640"/>
          </a:xfrm>
          <a:prstGeom prst="rect">
            <a:avLst/>
          </a:prstGeom>
          <a:noFill/>
          <a:ln/>
        </p:spPr>
        <p:txBody>
          <a:bodyPr wrap="square" lIns="0" tIns="0" rIns="0" bIns="0" rtlCol="0" anchor="ctr"/>
          <a:lstStyle/>
          <a:p>
            <a:pPr marL="0" indent="0" algn="ctr">
              <a:lnSpc>
                <a:spcPct val="120000"/>
              </a:lnSpc>
              <a:buNone/>
            </a:pPr>
            <a:r>
              <a:rPr lang="en-US" sz="1200" i="1" dirty="0">
                <a:solidFill>
                  <a:srgbClr val="CADCFC"/>
                </a:solidFill>
                <a:latin typeface="Calibri" pitchFamily="34" charset="0"/>
                <a:ea typeface="Calibri" pitchFamily="34" charset="-122"/>
                <a:cs typeface="Calibri" pitchFamily="34" charset="-120"/>
              </a:rPr>
              <a:t>minimum net monthly income required for loan eligibility</a:t>
            </a:r>
            <a:endParaRPr lang="en-US" sz="1200" dirty="0"/>
          </a:p>
        </p:txBody>
      </p:sp>
      <p:sp>
        <p:nvSpPr>
          <p:cNvPr id="30" name="Shape 27"/>
          <p:cNvSpPr/>
          <p:nvPr/>
        </p:nvSpPr>
        <p:spPr>
          <a:xfrm>
            <a:off x="7726680" y="4663440"/>
            <a:ext cx="3566160" cy="0"/>
          </a:xfrm>
          <a:prstGeom prst="line">
            <a:avLst/>
          </a:prstGeom>
          <a:noFill/>
          <a:ln w="12700">
            <a:solidFill>
              <a:srgbClr val="33437A"/>
            </a:solidFill>
            <a:prstDash val="solid"/>
          </a:ln>
        </p:spPr>
        <p:txBody>
          <a:bodyPr/>
          <a:lstStyle/>
          <a:p>
            <a:endParaRPr lang="en-IN"/>
          </a:p>
        </p:txBody>
      </p:sp>
      <p:sp>
        <p:nvSpPr>
          <p:cNvPr id="31" name="Text 28"/>
          <p:cNvSpPr/>
          <p:nvPr/>
        </p:nvSpPr>
        <p:spPr>
          <a:xfrm>
            <a:off x="7726680" y="4800600"/>
            <a:ext cx="3566160" cy="274320"/>
          </a:xfrm>
          <a:prstGeom prst="rect">
            <a:avLst/>
          </a:prstGeom>
          <a:noFill/>
          <a:ln/>
        </p:spPr>
        <p:txBody>
          <a:bodyPr wrap="square" lIns="0" tIns="0" rIns="0" bIns="0" rtlCol="0" anchor="ctr"/>
          <a:lstStyle/>
          <a:p>
            <a:pPr marL="0" indent="0">
              <a:buNone/>
            </a:pPr>
            <a:r>
              <a:rPr lang="en-US" sz="1150" b="1" kern="0" spc="100" dirty="0">
                <a:solidFill>
                  <a:srgbClr val="E29A3E"/>
                </a:solidFill>
                <a:latin typeface="Calibri" pitchFamily="34" charset="0"/>
                <a:ea typeface="Calibri" pitchFamily="34" charset="-122"/>
                <a:cs typeface="Calibri" pitchFamily="34" charset="-120"/>
              </a:rPr>
              <a:t>Components Detected</a:t>
            </a:r>
            <a:endParaRPr lang="en-US" sz="1150" dirty="0"/>
          </a:p>
        </p:txBody>
      </p:sp>
      <p:sp>
        <p:nvSpPr>
          <p:cNvPr id="32" name="Text 29"/>
          <p:cNvSpPr/>
          <p:nvPr/>
        </p:nvSpPr>
        <p:spPr>
          <a:xfrm>
            <a:off x="7726680" y="5120640"/>
            <a:ext cx="3566160" cy="914400"/>
          </a:xfrm>
          <a:prstGeom prst="rect">
            <a:avLst/>
          </a:prstGeom>
          <a:noFill/>
          <a:ln/>
        </p:spPr>
        <p:txBody>
          <a:bodyPr wrap="square" lIns="0" tIns="0" rIns="0" bIns="0" rtlCol="0" anchor="ctr"/>
          <a:lstStyle/>
          <a:p>
            <a:pPr marL="0" indent="0">
              <a:lnSpc>
                <a:spcPct val="140000"/>
              </a:lnSpc>
              <a:buNone/>
            </a:pPr>
            <a:r>
              <a:rPr lang="en-US" sz="1200" dirty="0">
                <a:solidFill>
                  <a:srgbClr val="FFFFFF"/>
                </a:solidFill>
                <a:latin typeface="Calibri" pitchFamily="34" charset="0"/>
                <a:ea typeface="Calibri" pitchFamily="34" charset="-122"/>
                <a:cs typeface="Calibri" pitchFamily="34" charset="-120"/>
              </a:rPr>
              <a:t>Basic  •  HRA  •  Medical  •  Conveyance  •  Other  •  Gross  •  Net</a:t>
            </a:r>
            <a:endParaRPr lang="en-US" sz="1200" dirty="0"/>
          </a:p>
        </p:txBody>
      </p:sp>
      <p:sp>
        <p:nvSpPr>
          <p:cNvPr id="33" name="Text 30"/>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EEF2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APPLICATION WALKTHROUGH</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Secure Login &amp; Module Dashboard</a:t>
            </a:r>
            <a:endParaRPr lang="en-US" sz="3000" dirty="0"/>
          </a:p>
        </p:txBody>
      </p:sp>
      <p:sp>
        <p:nvSpPr>
          <p:cNvPr id="4" name="Shape 2"/>
          <p:cNvSpPr/>
          <p:nvPr/>
        </p:nvSpPr>
        <p:spPr>
          <a:xfrm>
            <a:off x="493776" y="1636776"/>
            <a:ext cx="5367528" cy="2630403"/>
          </a:xfrm>
          <a:prstGeom prst="roundRect">
            <a:avLst>
              <a:gd name="adj" fmla="val 3129"/>
            </a:avLst>
          </a:prstGeom>
          <a:solidFill>
            <a:srgbClr val="FFFFFF"/>
          </a:solidFill>
          <a:ln w="12700">
            <a:solidFill>
              <a:srgbClr val="DDE3F0"/>
            </a:solidFill>
            <a:prstDash val="solid"/>
          </a:ln>
          <a:effectLst>
            <a:outerShdw blurRad="127000" dist="38100" dir="5400000" algn="bl" rotWithShape="0">
              <a:srgbClr val="16224D">
                <a:alpha val="22000"/>
              </a:srgbClr>
            </a:outerShdw>
          </a:effectLst>
        </p:spPr>
        <p:txBody>
          <a:bodyPr/>
          <a:lstStyle/>
          <a:p>
            <a:endParaRPr lang="en-IN"/>
          </a:p>
        </p:txBody>
      </p:sp>
      <p:pic>
        <p:nvPicPr>
          <p:cNvPr id="5" name="Image 0" descr="/home/claude/imgs/login.png"/>
          <p:cNvPicPr>
            <a:picLocks noChangeAspect="1"/>
          </p:cNvPicPr>
          <p:nvPr/>
        </p:nvPicPr>
        <p:blipFill>
          <a:blip r:embed="rId3"/>
          <a:stretch>
            <a:fillRect/>
          </a:stretch>
        </p:blipFill>
        <p:spPr>
          <a:xfrm>
            <a:off x="548640" y="1691640"/>
            <a:ext cx="5257800" cy="2520675"/>
          </a:xfrm>
          <a:prstGeom prst="rect">
            <a:avLst/>
          </a:prstGeom>
        </p:spPr>
      </p:pic>
      <p:sp>
        <p:nvSpPr>
          <p:cNvPr id="6" name="Text 3"/>
          <p:cNvSpPr/>
          <p:nvPr/>
        </p:nvSpPr>
        <p:spPr>
          <a:xfrm>
            <a:off x="548640" y="4285467"/>
            <a:ext cx="5257800" cy="320040"/>
          </a:xfrm>
          <a:prstGeom prst="rect">
            <a:avLst/>
          </a:prstGeom>
          <a:noFill/>
          <a:ln/>
        </p:spPr>
        <p:txBody>
          <a:bodyPr wrap="square" lIns="0" tIns="0" rIns="0" bIns="0" rtlCol="0" anchor="ctr"/>
          <a:lstStyle/>
          <a:p>
            <a:pPr marL="0" indent="0">
              <a:buNone/>
            </a:pPr>
            <a:r>
              <a:rPr lang="en-US" sz="1150" i="1" dirty="0">
                <a:solidFill>
                  <a:srgbClr val="6B7686"/>
                </a:solidFill>
                <a:latin typeface="Calibri" pitchFamily="34" charset="0"/>
                <a:ea typeface="Calibri" pitchFamily="34" charset="-122"/>
                <a:cs typeface="Calibri" pitchFamily="34" charset="-120"/>
              </a:rPr>
              <a:t>Screenshot 1 — Secure Login Portal</a:t>
            </a:r>
            <a:endParaRPr lang="en-US" sz="1150" dirty="0"/>
          </a:p>
        </p:txBody>
      </p:sp>
      <p:sp>
        <p:nvSpPr>
          <p:cNvPr id="7" name="Shape 4"/>
          <p:cNvSpPr/>
          <p:nvPr/>
        </p:nvSpPr>
        <p:spPr>
          <a:xfrm>
            <a:off x="6071616" y="1636776"/>
            <a:ext cx="5367528" cy="2633143"/>
          </a:xfrm>
          <a:prstGeom prst="roundRect">
            <a:avLst>
              <a:gd name="adj" fmla="val 3125"/>
            </a:avLst>
          </a:prstGeom>
          <a:solidFill>
            <a:srgbClr val="FFFFFF"/>
          </a:solidFill>
          <a:ln w="12700">
            <a:solidFill>
              <a:srgbClr val="DDE3F0"/>
            </a:solidFill>
            <a:prstDash val="solid"/>
          </a:ln>
          <a:effectLst>
            <a:outerShdw blurRad="127000" dist="38100" dir="5400000" algn="bl" rotWithShape="0">
              <a:srgbClr val="16224D">
                <a:alpha val="22000"/>
              </a:srgbClr>
            </a:outerShdw>
          </a:effectLst>
        </p:spPr>
        <p:txBody>
          <a:bodyPr/>
          <a:lstStyle/>
          <a:p>
            <a:endParaRPr lang="en-IN"/>
          </a:p>
        </p:txBody>
      </p:sp>
      <p:pic>
        <p:nvPicPr>
          <p:cNvPr id="8" name="Image 1" descr="/home/claude/imgs/dashboard.png"/>
          <p:cNvPicPr>
            <a:picLocks noChangeAspect="1"/>
          </p:cNvPicPr>
          <p:nvPr/>
        </p:nvPicPr>
        <p:blipFill>
          <a:blip r:embed="rId4"/>
          <a:stretch>
            <a:fillRect/>
          </a:stretch>
        </p:blipFill>
        <p:spPr>
          <a:xfrm>
            <a:off x="6126480" y="1691640"/>
            <a:ext cx="5257800" cy="2523415"/>
          </a:xfrm>
          <a:prstGeom prst="rect">
            <a:avLst/>
          </a:prstGeom>
        </p:spPr>
      </p:pic>
      <p:sp>
        <p:nvSpPr>
          <p:cNvPr id="9" name="Text 5"/>
          <p:cNvSpPr/>
          <p:nvPr/>
        </p:nvSpPr>
        <p:spPr>
          <a:xfrm>
            <a:off x="6126480" y="4288207"/>
            <a:ext cx="5257800" cy="320040"/>
          </a:xfrm>
          <a:prstGeom prst="rect">
            <a:avLst/>
          </a:prstGeom>
          <a:noFill/>
          <a:ln/>
        </p:spPr>
        <p:txBody>
          <a:bodyPr wrap="square" lIns="0" tIns="0" rIns="0" bIns="0" rtlCol="0" anchor="ctr"/>
          <a:lstStyle/>
          <a:p>
            <a:pPr marL="0" indent="0">
              <a:buNone/>
            </a:pPr>
            <a:r>
              <a:rPr lang="en-US" sz="1150" i="1" dirty="0">
                <a:solidFill>
                  <a:srgbClr val="6B7686"/>
                </a:solidFill>
                <a:latin typeface="Calibri" pitchFamily="34" charset="0"/>
                <a:ea typeface="Calibri" pitchFamily="34" charset="-122"/>
                <a:cs typeface="Calibri" pitchFamily="34" charset="-120"/>
              </a:rPr>
              <a:t>Screenshot 2 — Dashboard: Choose a Module</a:t>
            </a:r>
            <a:endParaRPr lang="en-US" sz="1150" dirty="0"/>
          </a:p>
        </p:txBody>
      </p:sp>
      <p:sp>
        <p:nvSpPr>
          <p:cNvPr id="10" name="Shape 6"/>
          <p:cNvSpPr/>
          <p:nvPr/>
        </p:nvSpPr>
        <p:spPr>
          <a:xfrm>
            <a:off x="548640" y="4937760"/>
            <a:ext cx="411480" cy="411480"/>
          </a:xfrm>
          <a:prstGeom prst="roundRect">
            <a:avLst>
              <a:gd name="adj" fmla="val 26667"/>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11" name="Image 2" descr="/home/claude/icons/FaLock.png"/>
          <p:cNvPicPr>
            <a:picLocks noChangeAspect="1"/>
          </p:cNvPicPr>
          <p:nvPr/>
        </p:nvPicPr>
        <p:blipFill>
          <a:blip r:embed="rId5"/>
          <a:stretch>
            <a:fillRect/>
          </a:stretch>
        </p:blipFill>
        <p:spPr>
          <a:xfrm>
            <a:off x="647395" y="5036515"/>
            <a:ext cx="213970" cy="213970"/>
          </a:xfrm>
          <a:prstGeom prst="rect">
            <a:avLst/>
          </a:prstGeom>
        </p:spPr>
      </p:pic>
      <p:sp>
        <p:nvSpPr>
          <p:cNvPr id="12" name="Text 7"/>
          <p:cNvSpPr/>
          <p:nvPr/>
        </p:nvSpPr>
        <p:spPr>
          <a:xfrm>
            <a:off x="1097280" y="4937760"/>
            <a:ext cx="3026664" cy="411480"/>
          </a:xfrm>
          <a:prstGeom prst="rect">
            <a:avLst/>
          </a:prstGeom>
          <a:noFill/>
          <a:ln/>
        </p:spPr>
        <p:txBody>
          <a:bodyPr wrap="square" lIns="0" tIns="0" rIns="0" bIns="0" rtlCol="0" anchor="ctr"/>
          <a:lstStyle/>
          <a:p>
            <a:pPr marL="0" indent="0">
              <a:lnSpc>
                <a:spcPct val="110000"/>
              </a:lnSpc>
              <a:buNone/>
            </a:pPr>
            <a:r>
              <a:rPr lang="en-US" sz="1100" dirty="0">
                <a:solidFill>
                  <a:srgbClr val="20293B"/>
                </a:solidFill>
                <a:latin typeface="Calibri" pitchFamily="34" charset="0"/>
                <a:ea typeface="Calibri" pitchFamily="34" charset="-122"/>
                <a:cs typeface="Calibri" pitchFamily="34" charset="-120"/>
              </a:rPr>
              <a:t>Username &amp; password protected access</a:t>
            </a:r>
            <a:endParaRPr lang="en-US" sz="1100" dirty="0"/>
          </a:p>
        </p:txBody>
      </p:sp>
      <p:sp>
        <p:nvSpPr>
          <p:cNvPr id="13" name="Shape 8"/>
          <p:cNvSpPr/>
          <p:nvPr/>
        </p:nvSpPr>
        <p:spPr>
          <a:xfrm>
            <a:off x="4306824" y="4937760"/>
            <a:ext cx="411480" cy="411480"/>
          </a:xfrm>
          <a:prstGeom prst="roundRect">
            <a:avLst>
              <a:gd name="adj" fmla="val 26667"/>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14" name="Image 3" descr="/home/claude/icons/FaFileInvoiceDollar.png"/>
          <p:cNvPicPr>
            <a:picLocks noChangeAspect="1"/>
          </p:cNvPicPr>
          <p:nvPr/>
        </p:nvPicPr>
        <p:blipFill>
          <a:blip r:embed="rId6"/>
          <a:stretch>
            <a:fillRect/>
          </a:stretch>
        </p:blipFill>
        <p:spPr>
          <a:xfrm>
            <a:off x="4405579" y="5036515"/>
            <a:ext cx="213970" cy="213970"/>
          </a:xfrm>
          <a:prstGeom prst="rect">
            <a:avLst/>
          </a:prstGeom>
        </p:spPr>
      </p:pic>
      <p:sp>
        <p:nvSpPr>
          <p:cNvPr id="15" name="Text 9"/>
          <p:cNvSpPr/>
          <p:nvPr/>
        </p:nvSpPr>
        <p:spPr>
          <a:xfrm>
            <a:off x="4855464" y="4937760"/>
            <a:ext cx="3026664" cy="411480"/>
          </a:xfrm>
          <a:prstGeom prst="rect">
            <a:avLst/>
          </a:prstGeom>
          <a:noFill/>
          <a:ln/>
        </p:spPr>
        <p:txBody>
          <a:bodyPr wrap="square" lIns="0" tIns="0" rIns="0" bIns="0" rtlCol="0" anchor="ctr"/>
          <a:lstStyle/>
          <a:p>
            <a:pPr marL="0" indent="0">
              <a:lnSpc>
                <a:spcPct val="110000"/>
              </a:lnSpc>
              <a:buNone/>
            </a:pPr>
            <a:r>
              <a:rPr lang="en-US" sz="1100" dirty="0">
                <a:solidFill>
                  <a:srgbClr val="20293B"/>
                </a:solidFill>
                <a:latin typeface="Calibri" pitchFamily="34" charset="0"/>
                <a:ea typeface="Calibri" pitchFamily="34" charset="-122"/>
                <a:cs typeface="Calibri" pitchFamily="34" charset="-120"/>
              </a:rPr>
              <a:t>Payslip Analysis module</a:t>
            </a:r>
            <a:endParaRPr lang="en-US" sz="1100" dirty="0"/>
          </a:p>
        </p:txBody>
      </p:sp>
      <p:sp>
        <p:nvSpPr>
          <p:cNvPr id="16" name="Shape 10"/>
          <p:cNvSpPr/>
          <p:nvPr/>
        </p:nvSpPr>
        <p:spPr>
          <a:xfrm>
            <a:off x="8065008" y="4937760"/>
            <a:ext cx="411480" cy="411480"/>
          </a:xfrm>
          <a:prstGeom prst="roundRect">
            <a:avLst>
              <a:gd name="adj" fmla="val 26667"/>
            </a:avLst>
          </a:prstGeom>
          <a:solidFill>
            <a:srgbClr val="16224D"/>
          </a:solidFill>
          <a:ln/>
          <a:effectLst>
            <a:outerShdw blurRad="101600" dist="38100" dir="5400000" algn="bl" rotWithShape="0">
              <a:srgbClr val="16224D">
                <a:alpha val="18000"/>
              </a:srgbClr>
            </a:outerShdw>
          </a:effectLst>
        </p:spPr>
        <p:txBody>
          <a:bodyPr/>
          <a:lstStyle/>
          <a:p>
            <a:endParaRPr lang="en-IN"/>
          </a:p>
        </p:txBody>
      </p:sp>
      <p:pic>
        <p:nvPicPr>
          <p:cNvPr id="17" name="Image 4" descr="/home/claude/icons/FaUniversity.png"/>
          <p:cNvPicPr>
            <a:picLocks noChangeAspect="1"/>
          </p:cNvPicPr>
          <p:nvPr/>
        </p:nvPicPr>
        <p:blipFill>
          <a:blip r:embed="rId7"/>
          <a:stretch>
            <a:fillRect/>
          </a:stretch>
        </p:blipFill>
        <p:spPr>
          <a:xfrm>
            <a:off x="8163763" y="5036515"/>
            <a:ext cx="213970" cy="213970"/>
          </a:xfrm>
          <a:prstGeom prst="rect">
            <a:avLst/>
          </a:prstGeom>
        </p:spPr>
      </p:pic>
      <p:sp>
        <p:nvSpPr>
          <p:cNvPr id="18" name="Text 11"/>
          <p:cNvSpPr/>
          <p:nvPr/>
        </p:nvSpPr>
        <p:spPr>
          <a:xfrm>
            <a:off x="8613648" y="4937760"/>
            <a:ext cx="3026664" cy="411480"/>
          </a:xfrm>
          <a:prstGeom prst="rect">
            <a:avLst/>
          </a:prstGeom>
          <a:noFill/>
          <a:ln/>
        </p:spPr>
        <p:txBody>
          <a:bodyPr wrap="square" lIns="0" tIns="0" rIns="0" bIns="0" rtlCol="0" anchor="ctr"/>
          <a:lstStyle/>
          <a:p>
            <a:pPr marL="0" indent="0">
              <a:lnSpc>
                <a:spcPct val="110000"/>
              </a:lnSpc>
              <a:buNone/>
            </a:pPr>
            <a:r>
              <a:rPr lang="en-US" sz="1100" dirty="0">
                <a:solidFill>
                  <a:srgbClr val="20293B"/>
                </a:solidFill>
                <a:latin typeface="Calibri" pitchFamily="34" charset="0"/>
                <a:ea typeface="Calibri" pitchFamily="34" charset="-122"/>
                <a:cs typeface="Calibri" pitchFamily="34" charset="-120"/>
              </a:rPr>
              <a:t>Bank Statement Analysis module</a:t>
            </a:r>
            <a:endParaRPr lang="en-US" sz="1100" dirty="0"/>
          </a:p>
        </p:txBody>
      </p:sp>
      <p:sp>
        <p:nvSpPr>
          <p:cNvPr id="19" name="Text 12"/>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EF2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APPLICATION WALKTHROUGH</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Payslip Upload &amp; Analysis Result</a:t>
            </a:r>
            <a:endParaRPr lang="en-US" sz="3000" dirty="0"/>
          </a:p>
        </p:txBody>
      </p:sp>
      <p:sp>
        <p:nvSpPr>
          <p:cNvPr id="4" name="Shape 2"/>
          <p:cNvSpPr/>
          <p:nvPr/>
        </p:nvSpPr>
        <p:spPr>
          <a:xfrm>
            <a:off x="493776" y="1636776"/>
            <a:ext cx="5367528" cy="2630403"/>
          </a:xfrm>
          <a:prstGeom prst="roundRect">
            <a:avLst>
              <a:gd name="adj" fmla="val 3129"/>
            </a:avLst>
          </a:prstGeom>
          <a:solidFill>
            <a:srgbClr val="FFFFFF"/>
          </a:solidFill>
          <a:ln w="12700">
            <a:solidFill>
              <a:srgbClr val="DDE3F0"/>
            </a:solidFill>
            <a:prstDash val="solid"/>
          </a:ln>
          <a:effectLst>
            <a:outerShdw blurRad="127000" dist="38100" dir="5400000" algn="bl" rotWithShape="0">
              <a:srgbClr val="16224D">
                <a:alpha val="22000"/>
              </a:srgbClr>
            </a:outerShdw>
          </a:effectLst>
        </p:spPr>
        <p:txBody>
          <a:bodyPr/>
          <a:lstStyle/>
          <a:p>
            <a:endParaRPr lang="en-IN"/>
          </a:p>
        </p:txBody>
      </p:sp>
      <p:pic>
        <p:nvPicPr>
          <p:cNvPr id="5" name="Image 0" descr="/home/claude/imgs/payslipupload.png"/>
          <p:cNvPicPr>
            <a:picLocks noChangeAspect="1"/>
          </p:cNvPicPr>
          <p:nvPr/>
        </p:nvPicPr>
        <p:blipFill>
          <a:blip r:embed="rId3"/>
          <a:stretch>
            <a:fillRect/>
          </a:stretch>
        </p:blipFill>
        <p:spPr>
          <a:xfrm>
            <a:off x="548640" y="1691640"/>
            <a:ext cx="5257800" cy="2520675"/>
          </a:xfrm>
          <a:prstGeom prst="rect">
            <a:avLst/>
          </a:prstGeom>
        </p:spPr>
      </p:pic>
      <p:sp>
        <p:nvSpPr>
          <p:cNvPr id="6" name="Text 3"/>
          <p:cNvSpPr/>
          <p:nvPr/>
        </p:nvSpPr>
        <p:spPr>
          <a:xfrm>
            <a:off x="548640" y="4285467"/>
            <a:ext cx="5257800" cy="320040"/>
          </a:xfrm>
          <a:prstGeom prst="rect">
            <a:avLst/>
          </a:prstGeom>
          <a:noFill/>
          <a:ln/>
        </p:spPr>
        <p:txBody>
          <a:bodyPr wrap="square" lIns="0" tIns="0" rIns="0" bIns="0" rtlCol="0" anchor="ctr"/>
          <a:lstStyle/>
          <a:p>
            <a:pPr marL="0" indent="0">
              <a:buNone/>
            </a:pPr>
            <a:r>
              <a:rPr lang="en-US" sz="1150" i="1" dirty="0">
                <a:solidFill>
                  <a:srgbClr val="6B7686"/>
                </a:solidFill>
                <a:latin typeface="Calibri" pitchFamily="34" charset="0"/>
                <a:ea typeface="Calibri" pitchFamily="34" charset="-122"/>
                <a:cs typeface="Calibri" pitchFamily="34" charset="-120"/>
              </a:rPr>
              <a:t>Screenshot 3 — Payslip Upload</a:t>
            </a:r>
            <a:endParaRPr lang="en-US" sz="1150" dirty="0"/>
          </a:p>
        </p:txBody>
      </p:sp>
      <p:sp>
        <p:nvSpPr>
          <p:cNvPr id="7" name="Shape 4"/>
          <p:cNvSpPr/>
          <p:nvPr/>
        </p:nvSpPr>
        <p:spPr>
          <a:xfrm>
            <a:off x="6071616" y="1636776"/>
            <a:ext cx="5367528" cy="2633143"/>
          </a:xfrm>
          <a:prstGeom prst="roundRect">
            <a:avLst>
              <a:gd name="adj" fmla="val 3125"/>
            </a:avLst>
          </a:prstGeom>
          <a:solidFill>
            <a:srgbClr val="FFFFFF"/>
          </a:solidFill>
          <a:ln w="12700">
            <a:solidFill>
              <a:srgbClr val="DDE3F0"/>
            </a:solidFill>
            <a:prstDash val="solid"/>
          </a:ln>
          <a:effectLst>
            <a:outerShdw blurRad="127000" dist="38100" dir="5400000" algn="bl" rotWithShape="0">
              <a:srgbClr val="16224D">
                <a:alpha val="22000"/>
              </a:srgbClr>
            </a:outerShdw>
          </a:effectLst>
        </p:spPr>
        <p:txBody>
          <a:bodyPr/>
          <a:lstStyle/>
          <a:p>
            <a:endParaRPr lang="en-IN"/>
          </a:p>
        </p:txBody>
      </p:sp>
      <p:pic>
        <p:nvPicPr>
          <p:cNvPr id="8" name="Image 1" descr="/home/claude/imgs/payslipresult.png"/>
          <p:cNvPicPr>
            <a:picLocks noChangeAspect="1"/>
          </p:cNvPicPr>
          <p:nvPr/>
        </p:nvPicPr>
        <p:blipFill>
          <a:blip r:embed="rId4"/>
          <a:stretch>
            <a:fillRect/>
          </a:stretch>
        </p:blipFill>
        <p:spPr>
          <a:xfrm>
            <a:off x="6126480" y="1691640"/>
            <a:ext cx="5257800" cy="2523415"/>
          </a:xfrm>
          <a:prstGeom prst="rect">
            <a:avLst/>
          </a:prstGeom>
        </p:spPr>
      </p:pic>
      <p:sp>
        <p:nvSpPr>
          <p:cNvPr id="9" name="Text 5"/>
          <p:cNvSpPr/>
          <p:nvPr/>
        </p:nvSpPr>
        <p:spPr>
          <a:xfrm>
            <a:off x="6126480" y="4288207"/>
            <a:ext cx="5257800" cy="320040"/>
          </a:xfrm>
          <a:prstGeom prst="rect">
            <a:avLst/>
          </a:prstGeom>
          <a:noFill/>
          <a:ln/>
        </p:spPr>
        <p:txBody>
          <a:bodyPr wrap="square" lIns="0" tIns="0" rIns="0" bIns="0" rtlCol="0" anchor="ctr"/>
          <a:lstStyle/>
          <a:p>
            <a:pPr marL="0" indent="0">
              <a:buNone/>
            </a:pPr>
            <a:r>
              <a:rPr lang="en-US" sz="1150" i="1" dirty="0">
                <a:solidFill>
                  <a:srgbClr val="6B7686"/>
                </a:solidFill>
                <a:latin typeface="Calibri" pitchFamily="34" charset="0"/>
                <a:ea typeface="Calibri" pitchFamily="34" charset="-122"/>
                <a:cs typeface="Calibri" pitchFamily="34" charset="-120"/>
              </a:rPr>
              <a:t>Screenshot 4 — Salary Breakdown, Verdict &amp; Pie Chart</a:t>
            </a:r>
            <a:endParaRPr lang="en-US" sz="1150" dirty="0"/>
          </a:p>
        </p:txBody>
      </p:sp>
      <p:sp>
        <p:nvSpPr>
          <p:cNvPr id="10" name="Shape 6"/>
          <p:cNvSpPr/>
          <p:nvPr/>
        </p:nvSpPr>
        <p:spPr>
          <a:xfrm>
            <a:off x="548640" y="4898115"/>
            <a:ext cx="5257800" cy="777240"/>
          </a:xfrm>
          <a:prstGeom prst="roundRect">
            <a:avLst>
              <a:gd name="adj" fmla="val 11765"/>
            </a:avLst>
          </a:prstGeom>
          <a:solidFill>
            <a:srgbClr val="D3543F"/>
          </a:solidFill>
          <a:ln/>
        </p:spPr>
        <p:txBody>
          <a:bodyPr/>
          <a:lstStyle/>
          <a:p>
            <a:endParaRPr lang="en-IN"/>
          </a:p>
        </p:txBody>
      </p:sp>
      <p:sp>
        <p:nvSpPr>
          <p:cNvPr id="11" name="Text 7"/>
          <p:cNvSpPr/>
          <p:nvPr/>
        </p:nvSpPr>
        <p:spPr>
          <a:xfrm>
            <a:off x="731520" y="4898115"/>
            <a:ext cx="4892040" cy="777240"/>
          </a:xfrm>
          <a:prstGeom prst="rect">
            <a:avLst/>
          </a:prstGeom>
          <a:noFill/>
          <a:ln/>
        </p:spPr>
        <p:txBody>
          <a:bodyPr wrap="square" lIns="0" tIns="0" rIns="0" bIns="0" rtlCol="0" anchor="ctr"/>
          <a:lstStyle/>
          <a:p>
            <a:pPr marL="0" indent="0">
              <a:lnSpc>
                <a:spcPct val="115000"/>
              </a:lnSpc>
              <a:buNone/>
            </a:pPr>
            <a:r>
              <a:rPr lang="en-US" sz="1250" b="1" dirty="0">
                <a:solidFill>
                  <a:srgbClr val="FFFFFF"/>
                </a:solidFill>
                <a:latin typeface="Calibri" pitchFamily="34" charset="0"/>
                <a:ea typeface="Calibri" pitchFamily="34" charset="-122"/>
                <a:cs typeface="Calibri" pitchFamily="34" charset="-120"/>
              </a:rPr>
              <a:t>Sample Result: ✗ Not Eligible — Net income below ₹ 20,000 threshold</a:t>
            </a:r>
            <a:endParaRPr lang="en-US" sz="1250" dirty="0"/>
          </a:p>
        </p:txBody>
      </p:sp>
      <p:sp>
        <p:nvSpPr>
          <p:cNvPr id="12" name="Text 8"/>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MODULE 02 — BANK STATEMENT ANALYSIS</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AI-Powered Expense Categorization with BERT</a:t>
            </a:r>
            <a:endParaRPr lang="en-US" sz="3000" dirty="0"/>
          </a:p>
        </p:txBody>
      </p:sp>
      <p:sp>
        <p:nvSpPr>
          <p:cNvPr id="4" name="Shape 2"/>
          <p:cNvSpPr/>
          <p:nvPr/>
        </p:nvSpPr>
        <p:spPr>
          <a:xfrm>
            <a:off x="548640" y="1554480"/>
            <a:ext cx="457200" cy="457200"/>
          </a:xfrm>
          <a:prstGeom prst="roundRect">
            <a:avLst>
              <a:gd name="adj" fmla="val 24000"/>
            </a:avLst>
          </a:prstGeom>
          <a:solidFill>
            <a:srgbClr val="16224D"/>
          </a:solidFill>
          <a:ln/>
        </p:spPr>
        <p:txBody>
          <a:bodyPr/>
          <a:lstStyle/>
          <a:p>
            <a:endParaRPr lang="en-IN"/>
          </a:p>
        </p:txBody>
      </p:sp>
      <p:sp>
        <p:nvSpPr>
          <p:cNvPr id="5" name="Text 3"/>
          <p:cNvSpPr/>
          <p:nvPr/>
        </p:nvSpPr>
        <p:spPr>
          <a:xfrm>
            <a:off x="548640" y="1554480"/>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6" name="Text 4"/>
          <p:cNvSpPr/>
          <p:nvPr/>
        </p:nvSpPr>
        <p:spPr>
          <a:xfrm>
            <a:off x="1143000" y="1508760"/>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Upload</a:t>
            </a:r>
            <a:endParaRPr lang="en-US" sz="1400" dirty="0"/>
          </a:p>
        </p:txBody>
      </p:sp>
      <p:sp>
        <p:nvSpPr>
          <p:cNvPr id="7" name="Text 5"/>
          <p:cNvSpPr/>
          <p:nvPr/>
        </p:nvSpPr>
        <p:spPr>
          <a:xfrm>
            <a:off x="1143000" y="1801368"/>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User uploads a bank statement PDF</a:t>
            </a:r>
            <a:endParaRPr lang="en-US" sz="1150" dirty="0"/>
          </a:p>
        </p:txBody>
      </p:sp>
      <p:sp>
        <p:nvSpPr>
          <p:cNvPr id="8" name="Shape 6"/>
          <p:cNvSpPr/>
          <p:nvPr/>
        </p:nvSpPr>
        <p:spPr>
          <a:xfrm>
            <a:off x="548640" y="2395728"/>
            <a:ext cx="457200" cy="457200"/>
          </a:xfrm>
          <a:prstGeom prst="roundRect">
            <a:avLst>
              <a:gd name="adj" fmla="val 24000"/>
            </a:avLst>
          </a:prstGeom>
          <a:solidFill>
            <a:srgbClr val="16224D"/>
          </a:solidFill>
          <a:ln/>
        </p:spPr>
        <p:txBody>
          <a:bodyPr/>
          <a:lstStyle/>
          <a:p>
            <a:endParaRPr lang="en-IN"/>
          </a:p>
        </p:txBody>
      </p:sp>
      <p:sp>
        <p:nvSpPr>
          <p:cNvPr id="9" name="Text 7"/>
          <p:cNvSpPr/>
          <p:nvPr/>
        </p:nvSpPr>
        <p:spPr>
          <a:xfrm>
            <a:off x="548640" y="2395728"/>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10" name="Text 8"/>
          <p:cNvSpPr/>
          <p:nvPr/>
        </p:nvSpPr>
        <p:spPr>
          <a:xfrm>
            <a:off x="1143000" y="2350008"/>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Parse</a:t>
            </a:r>
            <a:endParaRPr lang="en-US" sz="1400" dirty="0"/>
          </a:p>
        </p:txBody>
      </p:sp>
      <p:sp>
        <p:nvSpPr>
          <p:cNvPr id="11" name="Text 9"/>
          <p:cNvSpPr/>
          <p:nvPr/>
        </p:nvSpPr>
        <p:spPr>
          <a:xfrm>
            <a:off x="1143000" y="2642616"/>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Transactions (date, description, amount) are extracted from the statement</a:t>
            </a:r>
            <a:endParaRPr lang="en-US" sz="1150" dirty="0"/>
          </a:p>
        </p:txBody>
      </p:sp>
      <p:sp>
        <p:nvSpPr>
          <p:cNvPr id="12" name="Shape 10"/>
          <p:cNvSpPr/>
          <p:nvPr/>
        </p:nvSpPr>
        <p:spPr>
          <a:xfrm>
            <a:off x="548640" y="3236976"/>
            <a:ext cx="457200" cy="457200"/>
          </a:xfrm>
          <a:prstGeom prst="roundRect">
            <a:avLst>
              <a:gd name="adj" fmla="val 24000"/>
            </a:avLst>
          </a:prstGeom>
          <a:solidFill>
            <a:srgbClr val="16224D"/>
          </a:solidFill>
          <a:ln/>
        </p:spPr>
        <p:txBody>
          <a:bodyPr/>
          <a:lstStyle/>
          <a:p>
            <a:endParaRPr lang="en-IN"/>
          </a:p>
        </p:txBody>
      </p:sp>
      <p:sp>
        <p:nvSpPr>
          <p:cNvPr id="13" name="Text 11"/>
          <p:cNvSpPr/>
          <p:nvPr/>
        </p:nvSpPr>
        <p:spPr>
          <a:xfrm>
            <a:off x="548640" y="3236976"/>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14" name="Text 12"/>
          <p:cNvSpPr/>
          <p:nvPr/>
        </p:nvSpPr>
        <p:spPr>
          <a:xfrm>
            <a:off x="1143000" y="3191256"/>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Classify</a:t>
            </a:r>
            <a:endParaRPr lang="en-US" sz="1400" dirty="0"/>
          </a:p>
        </p:txBody>
      </p:sp>
      <p:sp>
        <p:nvSpPr>
          <p:cNvPr id="15" name="Text 13"/>
          <p:cNvSpPr/>
          <p:nvPr/>
        </p:nvSpPr>
        <p:spPr>
          <a:xfrm>
            <a:off x="1143000" y="3483864"/>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Each transaction description is passed through a fine-tuned BERT model to predict its category</a:t>
            </a:r>
            <a:endParaRPr lang="en-US" sz="1150" dirty="0"/>
          </a:p>
        </p:txBody>
      </p:sp>
      <p:sp>
        <p:nvSpPr>
          <p:cNvPr id="16" name="Shape 14"/>
          <p:cNvSpPr/>
          <p:nvPr/>
        </p:nvSpPr>
        <p:spPr>
          <a:xfrm>
            <a:off x="548640" y="4078224"/>
            <a:ext cx="457200" cy="457200"/>
          </a:xfrm>
          <a:prstGeom prst="roundRect">
            <a:avLst>
              <a:gd name="adj" fmla="val 24000"/>
            </a:avLst>
          </a:prstGeom>
          <a:solidFill>
            <a:srgbClr val="16224D"/>
          </a:solidFill>
          <a:ln/>
        </p:spPr>
        <p:txBody>
          <a:bodyPr/>
          <a:lstStyle/>
          <a:p>
            <a:endParaRPr lang="en-IN"/>
          </a:p>
        </p:txBody>
      </p:sp>
      <p:sp>
        <p:nvSpPr>
          <p:cNvPr id="17" name="Text 15"/>
          <p:cNvSpPr/>
          <p:nvPr/>
        </p:nvSpPr>
        <p:spPr>
          <a:xfrm>
            <a:off x="548640" y="4078224"/>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8" name="Text 16"/>
          <p:cNvSpPr/>
          <p:nvPr/>
        </p:nvSpPr>
        <p:spPr>
          <a:xfrm>
            <a:off x="1143000" y="4032504"/>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Aggregate</a:t>
            </a:r>
            <a:endParaRPr lang="en-US" sz="1400" dirty="0"/>
          </a:p>
        </p:txBody>
      </p:sp>
      <p:sp>
        <p:nvSpPr>
          <p:cNvPr id="19" name="Text 17"/>
          <p:cNvSpPr/>
          <p:nvPr/>
        </p:nvSpPr>
        <p:spPr>
          <a:xfrm>
            <a:off x="1143000" y="4325112"/>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Amounts are summed per category (Food, Transport, Medical, Shopping, etc.)</a:t>
            </a:r>
            <a:endParaRPr lang="en-US" sz="1150" dirty="0"/>
          </a:p>
        </p:txBody>
      </p:sp>
      <p:sp>
        <p:nvSpPr>
          <p:cNvPr id="20" name="Shape 18"/>
          <p:cNvSpPr/>
          <p:nvPr/>
        </p:nvSpPr>
        <p:spPr>
          <a:xfrm>
            <a:off x="548640" y="4919472"/>
            <a:ext cx="457200" cy="457200"/>
          </a:xfrm>
          <a:prstGeom prst="roundRect">
            <a:avLst>
              <a:gd name="adj" fmla="val 24000"/>
            </a:avLst>
          </a:prstGeom>
          <a:solidFill>
            <a:srgbClr val="16224D"/>
          </a:solidFill>
          <a:ln/>
        </p:spPr>
        <p:txBody>
          <a:bodyPr/>
          <a:lstStyle/>
          <a:p>
            <a:endParaRPr lang="en-IN"/>
          </a:p>
        </p:txBody>
      </p:sp>
      <p:sp>
        <p:nvSpPr>
          <p:cNvPr id="21" name="Text 19"/>
          <p:cNvSpPr/>
          <p:nvPr/>
        </p:nvSpPr>
        <p:spPr>
          <a:xfrm>
            <a:off x="548640" y="4919472"/>
            <a:ext cx="45720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22" name="Text 20"/>
          <p:cNvSpPr/>
          <p:nvPr/>
        </p:nvSpPr>
        <p:spPr>
          <a:xfrm>
            <a:off x="1143000" y="4873752"/>
            <a:ext cx="1828800" cy="320040"/>
          </a:xfrm>
          <a:prstGeom prst="rect">
            <a:avLst/>
          </a:prstGeom>
          <a:noFill/>
          <a:ln/>
        </p:spPr>
        <p:txBody>
          <a:bodyPr wrap="square" lIns="0" tIns="0" rIns="0" bIns="0" rtlCol="0" anchor="ctr"/>
          <a:lstStyle/>
          <a:p>
            <a:pPr marL="0" indent="0">
              <a:buNone/>
            </a:pPr>
            <a:r>
              <a:rPr lang="en-US" sz="1400" b="1" dirty="0">
                <a:solidFill>
                  <a:srgbClr val="16224D"/>
                </a:solidFill>
                <a:latin typeface="Calibri" pitchFamily="34" charset="0"/>
                <a:ea typeface="Calibri" pitchFamily="34" charset="-122"/>
                <a:cs typeface="Calibri" pitchFamily="34" charset="-120"/>
              </a:rPr>
              <a:t>Visualize</a:t>
            </a:r>
            <a:endParaRPr lang="en-US" sz="1400" dirty="0"/>
          </a:p>
        </p:txBody>
      </p:sp>
      <p:sp>
        <p:nvSpPr>
          <p:cNvPr id="23" name="Text 21"/>
          <p:cNvSpPr/>
          <p:nvPr/>
        </p:nvSpPr>
        <p:spPr>
          <a:xfrm>
            <a:off x="1143000" y="5166360"/>
            <a:ext cx="5806440" cy="502920"/>
          </a:xfrm>
          <a:prstGeom prst="rect">
            <a:avLst/>
          </a:prstGeom>
          <a:noFill/>
          <a:ln/>
        </p:spPr>
        <p:txBody>
          <a:bodyPr wrap="square" lIns="0" tIns="0" rIns="0" bIns="0" rtlCol="0" anchor="ctr"/>
          <a:lstStyle/>
          <a:p>
            <a:pPr marL="0" indent="0">
              <a:lnSpc>
                <a:spcPct val="115000"/>
              </a:lnSpc>
              <a:buNone/>
            </a:pPr>
            <a:r>
              <a:rPr lang="en-US" sz="1150" dirty="0">
                <a:solidFill>
                  <a:srgbClr val="6B7686"/>
                </a:solidFill>
                <a:latin typeface="Calibri" pitchFamily="34" charset="0"/>
                <a:ea typeface="Calibri" pitchFamily="34" charset="-122"/>
                <a:cs typeface="Calibri" pitchFamily="34" charset="-120"/>
              </a:rPr>
              <a:t>Results are rendered as a category pie chart and a top-categories bar plot</a:t>
            </a:r>
            <a:endParaRPr lang="en-US" sz="1150" dirty="0"/>
          </a:p>
        </p:txBody>
      </p:sp>
      <p:sp>
        <p:nvSpPr>
          <p:cNvPr id="24" name="Shape 22"/>
          <p:cNvSpPr/>
          <p:nvPr/>
        </p:nvSpPr>
        <p:spPr>
          <a:xfrm>
            <a:off x="7360920" y="1554480"/>
            <a:ext cx="4297680" cy="4617720"/>
          </a:xfrm>
          <a:prstGeom prst="roundRect">
            <a:avLst>
              <a:gd name="adj" fmla="val 2979"/>
            </a:avLst>
          </a:prstGeom>
          <a:solidFill>
            <a:srgbClr val="16224D"/>
          </a:solidFill>
          <a:ln/>
        </p:spPr>
        <p:txBody>
          <a:bodyPr/>
          <a:lstStyle/>
          <a:p>
            <a:endParaRPr lang="en-IN"/>
          </a:p>
        </p:txBody>
      </p:sp>
      <p:sp>
        <p:nvSpPr>
          <p:cNvPr id="25" name="Shape 23"/>
          <p:cNvSpPr/>
          <p:nvPr/>
        </p:nvSpPr>
        <p:spPr>
          <a:xfrm>
            <a:off x="9189720" y="1920240"/>
            <a:ext cx="640080" cy="640080"/>
          </a:xfrm>
          <a:prstGeom prst="roundRect">
            <a:avLst>
              <a:gd name="adj" fmla="val 25714"/>
            </a:avLst>
          </a:prstGeom>
          <a:solidFill>
            <a:srgbClr val="E29A3E"/>
          </a:solidFill>
          <a:ln/>
          <a:effectLst>
            <a:outerShdw blurRad="101600" dist="38100" dir="5400000" algn="bl" rotWithShape="0">
              <a:srgbClr val="16224D">
                <a:alpha val="18000"/>
              </a:srgbClr>
            </a:outerShdw>
          </a:effectLst>
        </p:spPr>
        <p:txBody>
          <a:bodyPr/>
          <a:lstStyle/>
          <a:p>
            <a:endParaRPr lang="en-IN"/>
          </a:p>
        </p:txBody>
      </p:sp>
      <p:pic>
        <p:nvPicPr>
          <p:cNvPr id="26" name="Image 0" descr="/home/claude/icons/FaRobot.png"/>
          <p:cNvPicPr>
            <a:picLocks noChangeAspect="1"/>
          </p:cNvPicPr>
          <p:nvPr/>
        </p:nvPicPr>
        <p:blipFill>
          <a:blip r:embed="rId3"/>
          <a:stretch>
            <a:fillRect/>
          </a:stretch>
        </p:blipFill>
        <p:spPr>
          <a:xfrm>
            <a:off x="9343339" y="2073859"/>
            <a:ext cx="332842" cy="332842"/>
          </a:xfrm>
          <a:prstGeom prst="rect">
            <a:avLst/>
          </a:prstGeom>
        </p:spPr>
      </p:pic>
      <p:sp>
        <p:nvSpPr>
          <p:cNvPr id="27" name="Text 24"/>
          <p:cNvSpPr/>
          <p:nvPr/>
        </p:nvSpPr>
        <p:spPr>
          <a:xfrm>
            <a:off x="7635240" y="2743200"/>
            <a:ext cx="3749040" cy="365760"/>
          </a:xfrm>
          <a:prstGeom prst="rect">
            <a:avLst/>
          </a:prstGeom>
          <a:noFill/>
          <a:ln/>
        </p:spPr>
        <p:txBody>
          <a:bodyPr wrap="square" lIns="0" tIns="0" rIns="0" bIns="0" rtlCol="0" anchor="ctr"/>
          <a:lstStyle/>
          <a:p>
            <a:pPr marL="0" indent="0" algn="ctr">
              <a:buNone/>
            </a:pPr>
            <a:r>
              <a:rPr lang="en-US" sz="1700" b="1" dirty="0">
                <a:solidFill>
                  <a:srgbClr val="FFFFFF"/>
                </a:solidFill>
                <a:latin typeface="Cambria" pitchFamily="34" charset="0"/>
                <a:ea typeface="Cambria" pitchFamily="34" charset="-122"/>
                <a:cs typeface="Cambria" pitchFamily="34" charset="-120"/>
              </a:rPr>
              <a:t>BERT in Action</a:t>
            </a:r>
            <a:endParaRPr lang="en-US" sz="1700" dirty="0"/>
          </a:p>
        </p:txBody>
      </p:sp>
      <p:sp>
        <p:nvSpPr>
          <p:cNvPr id="28" name="Shape 25"/>
          <p:cNvSpPr/>
          <p:nvPr/>
        </p:nvSpPr>
        <p:spPr>
          <a:xfrm>
            <a:off x="7726680" y="3337560"/>
            <a:ext cx="3566160" cy="594360"/>
          </a:xfrm>
          <a:prstGeom prst="roundRect">
            <a:avLst>
              <a:gd name="adj" fmla="val 12308"/>
            </a:avLst>
          </a:prstGeom>
          <a:solidFill>
            <a:srgbClr val="22335E"/>
          </a:solidFill>
          <a:ln/>
        </p:spPr>
        <p:txBody>
          <a:bodyPr/>
          <a:lstStyle/>
          <a:p>
            <a:endParaRPr lang="en-IN"/>
          </a:p>
        </p:txBody>
      </p:sp>
      <p:sp>
        <p:nvSpPr>
          <p:cNvPr id="29" name="Text 26"/>
          <p:cNvSpPr/>
          <p:nvPr/>
        </p:nvSpPr>
        <p:spPr>
          <a:xfrm>
            <a:off x="7909560" y="3337560"/>
            <a:ext cx="3200400" cy="594360"/>
          </a:xfrm>
          <a:prstGeom prst="rect">
            <a:avLst/>
          </a:prstGeom>
          <a:noFill/>
          <a:ln/>
        </p:spPr>
        <p:txBody>
          <a:bodyPr wrap="square" lIns="0" tIns="0" rIns="0" bIns="0" rtlCol="0" anchor="ctr"/>
          <a:lstStyle/>
          <a:p>
            <a:pPr marL="0" indent="0">
              <a:buNone/>
            </a:pPr>
            <a:r>
              <a:rPr lang="en-US" sz="1300" dirty="0">
                <a:solidFill>
                  <a:srgbClr val="FFFFFF"/>
                </a:solidFill>
                <a:latin typeface="Calibri" pitchFamily="34" charset="0"/>
                <a:ea typeface="Calibri" pitchFamily="34" charset="-122"/>
                <a:cs typeface="Calibri" pitchFamily="34" charset="-120"/>
              </a:rPr>
              <a:t>“SWIGGY *ORDER 500”</a:t>
            </a:r>
            <a:endParaRPr lang="en-US" sz="1300" dirty="0"/>
          </a:p>
        </p:txBody>
      </p:sp>
      <p:sp>
        <p:nvSpPr>
          <p:cNvPr id="30" name="Shape 27"/>
          <p:cNvSpPr/>
          <p:nvPr/>
        </p:nvSpPr>
        <p:spPr>
          <a:xfrm>
            <a:off x="9418320" y="4005072"/>
            <a:ext cx="182880" cy="256032"/>
          </a:xfrm>
          <a:prstGeom prst="downArrow">
            <a:avLst/>
          </a:prstGeom>
          <a:solidFill>
            <a:srgbClr val="E29A3E"/>
          </a:solidFill>
          <a:ln/>
        </p:spPr>
        <p:txBody>
          <a:bodyPr/>
          <a:lstStyle/>
          <a:p>
            <a:endParaRPr lang="en-IN"/>
          </a:p>
        </p:txBody>
      </p:sp>
      <p:sp>
        <p:nvSpPr>
          <p:cNvPr id="31" name="Shape 28"/>
          <p:cNvSpPr/>
          <p:nvPr/>
        </p:nvSpPr>
        <p:spPr>
          <a:xfrm>
            <a:off x="7726680" y="4343400"/>
            <a:ext cx="3566160" cy="594360"/>
          </a:xfrm>
          <a:prstGeom prst="roundRect">
            <a:avLst>
              <a:gd name="adj" fmla="val 12308"/>
            </a:avLst>
          </a:prstGeom>
          <a:solidFill>
            <a:srgbClr val="E29A3E"/>
          </a:solidFill>
          <a:ln/>
        </p:spPr>
        <p:txBody>
          <a:bodyPr/>
          <a:lstStyle/>
          <a:p>
            <a:endParaRPr lang="en-IN"/>
          </a:p>
        </p:txBody>
      </p:sp>
      <p:sp>
        <p:nvSpPr>
          <p:cNvPr id="32" name="Text 29"/>
          <p:cNvSpPr/>
          <p:nvPr/>
        </p:nvSpPr>
        <p:spPr>
          <a:xfrm>
            <a:off x="7909560" y="4343400"/>
            <a:ext cx="3200400" cy="594360"/>
          </a:xfrm>
          <a:prstGeom prst="rect">
            <a:avLst/>
          </a:prstGeom>
          <a:noFill/>
          <a:ln/>
        </p:spPr>
        <p:txBody>
          <a:bodyPr wrap="square" lIns="0" tIns="0" rIns="0" bIns="0" rtlCol="0" anchor="ctr"/>
          <a:lstStyle/>
          <a:p>
            <a:pPr marL="0" indent="0">
              <a:buNone/>
            </a:pPr>
            <a:r>
              <a:rPr lang="en-US" sz="1350" b="1" dirty="0">
                <a:solidFill>
                  <a:srgbClr val="16224D"/>
                </a:solidFill>
                <a:latin typeface="Calibri" pitchFamily="34" charset="0"/>
                <a:ea typeface="Calibri" pitchFamily="34" charset="-122"/>
                <a:cs typeface="Calibri" pitchFamily="34" charset="-120"/>
              </a:rPr>
              <a:t>Category: Food  –  ₹500</a:t>
            </a:r>
            <a:endParaRPr lang="en-US" sz="1350" dirty="0"/>
          </a:p>
        </p:txBody>
      </p:sp>
      <p:sp>
        <p:nvSpPr>
          <p:cNvPr id="33" name="Text 30"/>
          <p:cNvSpPr/>
          <p:nvPr/>
        </p:nvSpPr>
        <p:spPr>
          <a:xfrm>
            <a:off x="7726680" y="5166360"/>
            <a:ext cx="3566160" cy="868680"/>
          </a:xfrm>
          <a:prstGeom prst="rect">
            <a:avLst/>
          </a:prstGeom>
          <a:noFill/>
          <a:ln/>
        </p:spPr>
        <p:txBody>
          <a:bodyPr wrap="square" lIns="0" tIns="0" rIns="0" bIns="0" rtlCol="0" anchor="ctr"/>
          <a:lstStyle/>
          <a:p>
            <a:pPr marL="0" indent="0" algn="ctr">
              <a:lnSpc>
                <a:spcPct val="125000"/>
              </a:lnSpc>
              <a:buNone/>
            </a:pPr>
            <a:r>
              <a:rPr lang="en-US" sz="1150" i="1" dirty="0">
                <a:solidFill>
                  <a:srgbClr val="CADCFC"/>
                </a:solidFill>
                <a:latin typeface="Calibri" pitchFamily="34" charset="0"/>
                <a:ea typeface="Calibri" pitchFamily="34" charset="-122"/>
                <a:cs typeface="Calibri" pitchFamily="34" charset="-120"/>
              </a:rPr>
              <a:t>BERT reads plain transaction text and maps it directly to a spending category — no manual tagging required.</a:t>
            </a:r>
            <a:endParaRPr lang="en-US" sz="1150" dirty="0"/>
          </a:p>
        </p:txBody>
      </p:sp>
      <p:sp>
        <p:nvSpPr>
          <p:cNvPr id="34" name="Text 31"/>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EF2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APPLICATION WALKTHROUGH</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Statement Upload &amp; Top Transaction Categories</a:t>
            </a:r>
            <a:endParaRPr lang="en-US" sz="3000" dirty="0"/>
          </a:p>
        </p:txBody>
      </p:sp>
      <p:sp>
        <p:nvSpPr>
          <p:cNvPr id="4" name="Shape 2"/>
          <p:cNvSpPr/>
          <p:nvPr/>
        </p:nvSpPr>
        <p:spPr>
          <a:xfrm>
            <a:off x="493776" y="1636776"/>
            <a:ext cx="5367528" cy="2627663"/>
          </a:xfrm>
          <a:prstGeom prst="roundRect">
            <a:avLst>
              <a:gd name="adj" fmla="val 3132"/>
            </a:avLst>
          </a:prstGeom>
          <a:solidFill>
            <a:srgbClr val="FFFFFF"/>
          </a:solidFill>
          <a:ln w="12700">
            <a:solidFill>
              <a:srgbClr val="DDE3F0"/>
            </a:solidFill>
            <a:prstDash val="solid"/>
          </a:ln>
          <a:effectLst>
            <a:outerShdw blurRad="127000" dist="38100" dir="5400000" algn="bl" rotWithShape="0">
              <a:srgbClr val="16224D">
                <a:alpha val="22000"/>
              </a:srgbClr>
            </a:outerShdw>
          </a:effectLst>
        </p:spPr>
        <p:txBody>
          <a:bodyPr/>
          <a:lstStyle/>
          <a:p>
            <a:endParaRPr lang="en-IN"/>
          </a:p>
        </p:txBody>
      </p:sp>
      <p:pic>
        <p:nvPicPr>
          <p:cNvPr id="5" name="Image 0" descr="/home/claude/imgs/bankupload.png"/>
          <p:cNvPicPr>
            <a:picLocks noChangeAspect="1"/>
          </p:cNvPicPr>
          <p:nvPr/>
        </p:nvPicPr>
        <p:blipFill>
          <a:blip r:embed="rId3"/>
          <a:stretch>
            <a:fillRect/>
          </a:stretch>
        </p:blipFill>
        <p:spPr>
          <a:xfrm>
            <a:off x="548640" y="1691640"/>
            <a:ext cx="5257800" cy="2517935"/>
          </a:xfrm>
          <a:prstGeom prst="rect">
            <a:avLst/>
          </a:prstGeom>
        </p:spPr>
      </p:pic>
      <p:sp>
        <p:nvSpPr>
          <p:cNvPr id="6" name="Text 3"/>
          <p:cNvSpPr/>
          <p:nvPr/>
        </p:nvSpPr>
        <p:spPr>
          <a:xfrm>
            <a:off x="548640" y="4282727"/>
            <a:ext cx="5257800" cy="320040"/>
          </a:xfrm>
          <a:prstGeom prst="rect">
            <a:avLst/>
          </a:prstGeom>
          <a:noFill/>
          <a:ln/>
        </p:spPr>
        <p:txBody>
          <a:bodyPr wrap="square" lIns="0" tIns="0" rIns="0" bIns="0" rtlCol="0" anchor="ctr"/>
          <a:lstStyle/>
          <a:p>
            <a:pPr marL="0" indent="0">
              <a:buNone/>
            </a:pPr>
            <a:r>
              <a:rPr lang="en-US" sz="1150" i="1" dirty="0">
                <a:solidFill>
                  <a:srgbClr val="6B7686"/>
                </a:solidFill>
                <a:latin typeface="Calibri" pitchFamily="34" charset="0"/>
                <a:ea typeface="Calibri" pitchFamily="34" charset="-122"/>
                <a:cs typeface="Calibri" pitchFamily="34" charset="-120"/>
              </a:rPr>
              <a:t>Screenshot 5 — Upload Bank Statement</a:t>
            </a:r>
            <a:endParaRPr lang="en-US" sz="1150" dirty="0"/>
          </a:p>
        </p:txBody>
      </p:sp>
      <p:sp>
        <p:nvSpPr>
          <p:cNvPr id="7" name="Shape 4"/>
          <p:cNvSpPr/>
          <p:nvPr/>
        </p:nvSpPr>
        <p:spPr>
          <a:xfrm>
            <a:off x="6071616" y="1636776"/>
            <a:ext cx="5367528" cy="2403254"/>
          </a:xfrm>
          <a:prstGeom prst="roundRect">
            <a:avLst>
              <a:gd name="adj" fmla="val 3424"/>
            </a:avLst>
          </a:prstGeom>
          <a:solidFill>
            <a:srgbClr val="FFFFFF"/>
          </a:solidFill>
          <a:ln w="12700">
            <a:solidFill>
              <a:srgbClr val="DDE3F0"/>
            </a:solidFill>
            <a:prstDash val="solid"/>
          </a:ln>
          <a:effectLst>
            <a:outerShdw blurRad="127000" dist="38100" dir="5400000" algn="bl" rotWithShape="0">
              <a:srgbClr val="16224D">
                <a:alpha val="22000"/>
              </a:srgbClr>
            </a:outerShdw>
          </a:effectLst>
        </p:spPr>
        <p:txBody>
          <a:bodyPr/>
          <a:lstStyle/>
          <a:p>
            <a:endParaRPr lang="en-IN"/>
          </a:p>
        </p:txBody>
      </p:sp>
      <p:pic>
        <p:nvPicPr>
          <p:cNvPr id="8" name="Image 1" descr="/home/claude/imgs/barchart.png"/>
          <p:cNvPicPr>
            <a:picLocks noChangeAspect="1"/>
          </p:cNvPicPr>
          <p:nvPr/>
        </p:nvPicPr>
        <p:blipFill>
          <a:blip r:embed="rId4"/>
          <a:stretch>
            <a:fillRect/>
          </a:stretch>
        </p:blipFill>
        <p:spPr>
          <a:xfrm>
            <a:off x="6126480" y="1691640"/>
            <a:ext cx="5257800" cy="2293526"/>
          </a:xfrm>
          <a:prstGeom prst="rect">
            <a:avLst/>
          </a:prstGeom>
        </p:spPr>
      </p:pic>
      <p:sp>
        <p:nvSpPr>
          <p:cNvPr id="9" name="Text 5"/>
          <p:cNvSpPr/>
          <p:nvPr/>
        </p:nvSpPr>
        <p:spPr>
          <a:xfrm>
            <a:off x="6126480" y="4058318"/>
            <a:ext cx="5257800" cy="320040"/>
          </a:xfrm>
          <a:prstGeom prst="rect">
            <a:avLst/>
          </a:prstGeom>
          <a:noFill/>
          <a:ln/>
        </p:spPr>
        <p:txBody>
          <a:bodyPr wrap="square" lIns="0" tIns="0" rIns="0" bIns="0" rtlCol="0" anchor="ctr"/>
          <a:lstStyle/>
          <a:p>
            <a:pPr marL="0" indent="0">
              <a:buNone/>
            </a:pPr>
            <a:r>
              <a:rPr lang="en-US" sz="1150" i="1" dirty="0">
                <a:solidFill>
                  <a:srgbClr val="6B7686"/>
                </a:solidFill>
                <a:latin typeface="Calibri" pitchFamily="34" charset="0"/>
                <a:ea typeface="Calibri" pitchFamily="34" charset="-122"/>
                <a:cs typeface="Calibri" pitchFamily="34" charset="-120"/>
              </a:rPr>
              <a:t>Screenshot 6 — Top 7 Transaction Categories (Bar Plot)</a:t>
            </a:r>
            <a:endParaRPr lang="en-US" sz="1150" dirty="0"/>
          </a:p>
        </p:txBody>
      </p:sp>
      <p:sp>
        <p:nvSpPr>
          <p:cNvPr id="10" name="Text 6"/>
          <p:cNvSpPr/>
          <p:nvPr/>
        </p:nvSpPr>
        <p:spPr>
          <a:xfrm>
            <a:off x="548640" y="5349240"/>
            <a:ext cx="11091672" cy="548640"/>
          </a:xfrm>
          <a:prstGeom prst="rect">
            <a:avLst/>
          </a:prstGeom>
          <a:noFill/>
          <a:ln/>
        </p:spPr>
        <p:txBody>
          <a:bodyPr wrap="square" lIns="0" tIns="0" rIns="0" bIns="0" rtlCol="0" anchor="ctr"/>
          <a:lstStyle/>
          <a:p>
            <a:pPr marL="0" indent="0">
              <a:lnSpc>
                <a:spcPct val="120000"/>
              </a:lnSpc>
              <a:buNone/>
            </a:pPr>
            <a:r>
              <a:rPr lang="en-US" sz="1250" i="1" dirty="0">
                <a:solidFill>
                  <a:srgbClr val="6B7686"/>
                </a:solidFill>
                <a:latin typeface="Calibri" pitchFamily="34" charset="0"/>
                <a:ea typeface="Calibri" pitchFamily="34" charset="-122"/>
                <a:cs typeface="Calibri" pitchFamily="34" charset="-120"/>
              </a:rPr>
              <a:t>The bar plot ranks categories by total amount spent, instantly surfacing the largest outflows — here, cash withdrawals and medical expenses dominate the statement.</a:t>
            </a:r>
            <a:endParaRPr lang="en-US" sz="1250" dirty="0"/>
          </a:p>
        </p:txBody>
      </p:sp>
      <p:sp>
        <p:nvSpPr>
          <p:cNvPr id="11" name="Text 7"/>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EF2FA"/>
        </a:solidFill>
        <a:effectLst/>
      </p:bgPr>
    </p:bg>
    <p:spTree>
      <p:nvGrpSpPr>
        <p:cNvPr id="1" name=""/>
        <p:cNvGrpSpPr/>
        <p:nvPr/>
      </p:nvGrpSpPr>
      <p:grpSpPr>
        <a:xfrm>
          <a:off x="0" y="0"/>
          <a:ext cx="0" cy="0"/>
          <a:chOff x="0" y="0"/>
          <a:chExt cx="0" cy="0"/>
        </a:xfrm>
      </p:grpSpPr>
      <p:sp>
        <p:nvSpPr>
          <p:cNvPr id="2" name="Text 0"/>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APPLICATION WALKTHROUGH</a:t>
            </a:r>
            <a:endParaRPr lang="en-US" sz="1250" dirty="0"/>
          </a:p>
        </p:txBody>
      </p:sp>
      <p:sp>
        <p:nvSpPr>
          <p:cNvPr id="3" name="Text 1"/>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16224D"/>
                </a:solidFill>
                <a:latin typeface="Cambria" pitchFamily="34" charset="0"/>
                <a:ea typeface="Cambria" pitchFamily="34" charset="-122"/>
                <a:cs typeface="Cambria" pitchFamily="34" charset="-120"/>
              </a:rPr>
              <a:t>Spending Distribution by Category</a:t>
            </a:r>
            <a:endParaRPr lang="en-US" sz="3000" dirty="0"/>
          </a:p>
        </p:txBody>
      </p:sp>
      <p:sp>
        <p:nvSpPr>
          <p:cNvPr id="4" name="Shape 2"/>
          <p:cNvSpPr/>
          <p:nvPr/>
        </p:nvSpPr>
        <p:spPr>
          <a:xfrm>
            <a:off x="493776" y="1545336"/>
            <a:ext cx="6144768" cy="2754127"/>
          </a:xfrm>
          <a:prstGeom prst="roundRect">
            <a:avLst>
              <a:gd name="adj" fmla="val 2988"/>
            </a:avLst>
          </a:prstGeom>
          <a:solidFill>
            <a:srgbClr val="FFFFFF"/>
          </a:solidFill>
          <a:ln w="12700">
            <a:solidFill>
              <a:srgbClr val="DDE3F0"/>
            </a:solidFill>
            <a:prstDash val="solid"/>
          </a:ln>
          <a:effectLst>
            <a:outerShdw blurRad="127000" dist="38100" dir="5400000" algn="bl" rotWithShape="0">
              <a:srgbClr val="16224D">
                <a:alpha val="22000"/>
              </a:srgbClr>
            </a:outerShdw>
          </a:effectLst>
        </p:spPr>
        <p:txBody>
          <a:bodyPr/>
          <a:lstStyle/>
          <a:p>
            <a:endParaRPr lang="en-IN"/>
          </a:p>
        </p:txBody>
      </p:sp>
      <p:pic>
        <p:nvPicPr>
          <p:cNvPr id="5" name="Image 0" descr="/home/claude/imgs/piechart_bank.png"/>
          <p:cNvPicPr>
            <a:picLocks noChangeAspect="1"/>
          </p:cNvPicPr>
          <p:nvPr/>
        </p:nvPicPr>
        <p:blipFill>
          <a:blip r:embed="rId3"/>
          <a:stretch>
            <a:fillRect/>
          </a:stretch>
        </p:blipFill>
        <p:spPr>
          <a:xfrm>
            <a:off x="548640" y="1600200"/>
            <a:ext cx="6035040" cy="2644399"/>
          </a:xfrm>
          <a:prstGeom prst="rect">
            <a:avLst/>
          </a:prstGeom>
        </p:spPr>
      </p:pic>
      <p:sp>
        <p:nvSpPr>
          <p:cNvPr id="6" name="Text 3"/>
          <p:cNvSpPr/>
          <p:nvPr/>
        </p:nvSpPr>
        <p:spPr>
          <a:xfrm>
            <a:off x="548640" y="4317751"/>
            <a:ext cx="6035040" cy="320040"/>
          </a:xfrm>
          <a:prstGeom prst="rect">
            <a:avLst/>
          </a:prstGeom>
          <a:noFill/>
          <a:ln/>
        </p:spPr>
        <p:txBody>
          <a:bodyPr wrap="square" lIns="0" tIns="0" rIns="0" bIns="0" rtlCol="0" anchor="ctr"/>
          <a:lstStyle/>
          <a:p>
            <a:pPr marL="0" indent="0">
              <a:buNone/>
            </a:pPr>
            <a:r>
              <a:rPr lang="en-US" sz="1150" i="1" dirty="0">
                <a:solidFill>
                  <a:srgbClr val="6B7686"/>
                </a:solidFill>
                <a:latin typeface="Calibri" pitchFamily="34" charset="0"/>
                <a:ea typeface="Calibri" pitchFamily="34" charset="-122"/>
                <a:cs typeface="Calibri" pitchFamily="34" charset="-120"/>
              </a:rPr>
              <a:t>Screenshot 7 — Category-wise Expense Pie Chart</a:t>
            </a:r>
            <a:endParaRPr lang="en-US" sz="1150" dirty="0"/>
          </a:p>
        </p:txBody>
      </p:sp>
      <p:sp>
        <p:nvSpPr>
          <p:cNvPr id="7" name="Text 4"/>
          <p:cNvSpPr/>
          <p:nvPr/>
        </p:nvSpPr>
        <p:spPr>
          <a:xfrm>
            <a:off x="7040880" y="1691640"/>
            <a:ext cx="4572000" cy="365760"/>
          </a:xfrm>
          <a:prstGeom prst="rect">
            <a:avLst/>
          </a:prstGeom>
          <a:noFill/>
          <a:ln/>
        </p:spPr>
        <p:txBody>
          <a:bodyPr wrap="square" lIns="0" tIns="0" rIns="0" bIns="0" rtlCol="0" anchor="ctr"/>
          <a:lstStyle/>
          <a:p>
            <a:pPr marL="0" indent="0">
              <a:buNone/>
            </a:pPr>
            <a:r>
              <a:rPr lang="en-US" sz="1800" b="1" dirty="0">
                <a:solidFill>
                  <a:srgbClr val="16224D"/>
                </a:solidFill>
                <a:latin typeface="Cambria" pitchFamily="34" charset="0"/>
                <a:ea typeface="Cambria" pitchFamily="34" charset="-122"/>
                <a:cs typeface="Cambria" pitchFamily="34" charset="-120"/>
              </a:rPr>
              <a:t>Key Insights</a:t>
            </a:r>
            <a:endParaRPr lang="en-US" sz="1800" dirty="0"/>
          </a:p>
        </p:txBody>
      </p:sp>
      <p:sp>
        <p:nvSpPr>
          <p:cNvPr id="8" name="Shape 5"/>
          <p:cNvSpPr/>
          <p:nvPr/>
        </p:nvSpPr>
        <p:spPr>
          <a:xfrm>
            <a:off x="7040880" y="2194560"/>
            <a:ext cx="4572000" cy="512064"/>
          </a:xfrm>
          <a:prstGeom prst="roundRect">
            <a:avLst>
              <a:gd name="adj" fmla="val 14286"/>
            </a:avLst>
          </a:prstGeom>
          <a:solidFill>
            <a:srgbClr val="FFFFFF"/>
          </a:solidFill>
          <a:ln w="12700">
            <a:solidFill>
              <a:srgbClr val="DDE3F0"/>
            </a:solidFill>
            <a:prstDash val="solid"/>
          </a:ln>
        </p:spPr>
        <p:txBody>
          <a:bodyPr/>
          <a:lstStyle/>
          <a:p>
            <a:endParaRPr lang="en-IN"/>
          </a:p>
        </p:txBody>
      </p:sp>
      <p:sp>
        <p:nvSpPr>
          <p:cNvPr id="9" name="Text 6"/>
          <p:cNvSpPr/>
          <p:nvPr/>
        </p:nvSpPr>
        <p:spPr>
          <a:xfrm>
            <a:off x="7223760" y="2194560"/>
            <a:ext cx="2514600" cy="512064"/>
          </a:xfrm>
          <a:prstGeom prst="rect">
            <a:avLst/>
          </a:prstGeom>
          <a:noFill/>
          <a:ln/>
        </p:spPr>
        <p:txBody>
          <a:bodyPr wrap="square" lIns="0" tIns="0" rIns="0" bIns="0" rtlCol="0" anchor="ctr"/>
          <a:lstStyle/>
          <a:p>
            <a:pPr marL="0" indent="0">
              <a:buNone/>
            </a:pPr>
            <a:r>
              <a:rPr lang="en-US" sz="1200" b="1" dirty="0">
                <a:solidFill>
                  <a:srgbClr val="16224D"/>
                </a:solidFill>
                <a:latin typeface="Calibri" pitchFamily="34" charset="0"/>
                <a:ea typeface="Calibri" pitchFamily="34" charset="-122"/>
                <a:cs typeface="Calibri" pitchFamily="34" charset="-120"/>
              </a:rPr>
              <a:t>Cash Withdrawal</a:t>
            </a:r>
            <a:endParaRPr lang="en-US" sz="1200" dirty="0"/>
          </a:p>
        </p:txBody>
      </p:sp>
      <p:sp>
        <p:nvSpPr>
          <p:cNvPr id="10" name="Text 7"/>
          <p:cNvSpPr/>
          <p:nvPr/>
        </p:nvSpPr>
        <p:spPr>
          <a:xfrm>
            <a:off x="9555480" y="2194560"/>
            <a:ext cx="914400" cy="512064"/>
          </a:xfrm>
          <a:prstGeom prst="rect">
            <a:avLst/>
          </a:prstGeom>
          <a:noFill/>
          <a:ln/>
        </p:spPr>
        <p:txBody>
          <a:bodyPr wrap="square" lIns="0" tIns="0" rIns="0" bIns="0" rtlCol="0" anchor="ctr"/>
          <a:lstStyle/>
          <a:p>
            <a:pPr marL="0" indent="0" algn="r">
              <a:buNone/>
            </a:pPr>
            <a:r>
              <a:rPr lang="en-US" sz="1200" b="1" dirty="0">
                <a:solidFill>
                  <a:srgbClr val="E29A3E"/>
                </a:solidFill>
                <a:latin typeface="Calibri" pitchFamily="34" charset="0"/>
                <a:ea typeface="Calibri" pitchFamily="34" charset="-122"/>
                <a:cs typeface="Calibri" pitchFamily="34" charset="-120"/>
              </a:rPr>
              <a:t>48.8%</a:t>
            </a:r>
            <a:endParaRPr lang="en-US" sz="1200" dirty="0"/>
          </a:p>
        </p:txBody>
      </p:sp>
      <p:sp>
        <p:nvSpPr>
          <p:cNvPr id="11" name="Text 8"/>
          <p:cNvSpPr/>
          <p:nvPr/>
        </p:nvSpPr>
        <p:spPr>
          <a:xfrm>
            <a:off x="10332720" y="2194560"/>
            <a:ext cx="1188720" cy="512064"/>
          </a:xfrm>
          <a:prstGeom prst="rect">
            <a:avLst/>
          </a:prstGeom>
          <a:noFill/>
          <a:ln/>
        </p:spPr>
        <p:txBody>
          <a:bodyPr wrap="square" lIns="0" tIns="0" rIns="0" bIns="0" rtlCol="0" anchor="ctr"/>
          <a:lstStyle/>
          <a:p>
            <a:pPr marL="0" indent="0" algn="r">
              <a:buNone/>
            </a:pPr>
            <a:r>
              <a:rPr lang="en-US" sz="1050" dirty="0">
                <a:solidFill>
                  <a:srgbClr val="6B7686"/>
                </a:solidFill>
                <a:latin typeface="Calibri" pitchFamily="34" charset="0"/>
                <a:ea typeface="Calibri" pitchFamily="34" charset="-122"/>
                <a:cs typeface="Calibri" pitchFamily="34" charset="-120"/>
              </a:rPr>
              <a:t>₹18,000</a:t>
            </a:r>
            <a:endParaRPr lang="en-US" sz="1050" dirty="0"/>
          </a:p>
        </p:txBody>
      </p:sp>
      <p:sp>
        <p:nvSpPr>
          <p:cNvPr id="12" name="Shape 9"/>
          <p:cNvSpPr/>
          <p:nvPr/>
        </p:nvSpPr>
        <p:spPr>
          <a:xfrm>
            <a:off x="7040880" y="2816352"/>
            <a:ext cx="4572000" cy="512064"/>
          </a:xfrm>
          <a:prstGeom prst="roundRect">
            <a:avLst>
              <a:gd name="adj" fmla="val 14286"/>
            </a:avLst>
          </a:prstGeom>
          <a:solidFill>
            <a:srgbClr val="FFFFFF"/>
          </a:solidFill>
          <a:ln w="12700">
            <a:solidFill>
              <a:srgbClr val="DDE3F0"/>
            </a:solidFill>
            <a:prstDash val="solid"/>
          </a:ln>
        </p:spPr>
        <p:txBody>
          <a:bodyPr/>
          <a:lstStyle/>
          <a:p>
            <a:endParaRPr lang="en-IN"/>
          </a:p>
        </p:txBody>
      </p:sp>
      <p:sp>
        <p:nvSpPr>
          <p:cNvPr id="13" name="Text 10"/>
          <p:cNvSpPr/>
          <p:nvPr/>
        </p:nvSpPr>
        <p:spPr>
          <a:xfrm>
            <a:off x="7223760" y="2816352"/>
            <a:ext cx="2514600" cy="512064"/>
          </a:xfrm>
          <a:prstGeom prst="rect">
            <a:avLst/>
          </a:prstGeom>
          <a:noFill/>
          <a:ln/>
        </p:spPr>
        <p:txBody>
          <a:bodyPr wrap="square" lIns="0" tIns="0" rIns="0" bIns="0" rtlCol="0" anchor="ctr"/>
          <a:lstStyle/>
          <a:p>
            <a:pPr marL="0" indent="0">
              <a:buNone/>
            </a:pPr>
            <a:r>
              <a:rPr lang="en-US" sz="1200" b="1" dirty="0">
                <a:solidFill>
                  <a:srgbClr val="16224D"/>
                </a:solidFill>
                <a:latin typeface="Calibri" pitchFamily="34" charset="0"/>
                <a:ea typeface="Calibri" pitchFamily="34" charset="-122"/>
                <a:cs typeface="Calibri" pitchFamily="34" charset="-120"/>
              </a:rPr>
              <a:t>Medical</a:t>
            </a:r>
            <a:endParaRPr lang="en-US" sz="1200" dirty="0"/>
          </a:p>
        </p:txBody>
      </p:sp>
      <p:sp>
        <p:nvSpPr>
          <p:cNvPr id="14" name="Text 11"/>
          <p:cNvSpPr/>
          <p:nvPr/>
        </p:nvSpPr>
        <p:spPr>
          <a:xfrm>
            <a:off x="9555480" y="2816352"/>
            <a:ext cx="914400" cy="512064"/>
          </a:xfrm>
          <a:prstGeom prst="rect">
            <a:avLst/>
          </a:prstGeom>
          <a:noFill/>
          <a:ln/>
        </p:spPr>
        <p:txBody>
          <a:bodyPr wrap="square" lIns="0" tIns="0" rIns="0" bIns="0" rtlCol="0" anchor="ctr"/>
          <a:lstStyle/>
          <a:p>
            <a:pPr marL="0" indent="0" algn="r">
              <a:buNone/>
            </a:pPr>
            <a:r>
              <a:rPr lang="en-US" sz="1200" b="1" dirty="0">
                <a:solidFill>
                  <a:srgbClr val="E29A3E"/>
                </a:solidFill>
                <a:latin typeface="Calibri" pitchFamily="34" charset="0"/>
                <a:ea typeface="Calibri" pitchFamily="34" charset="-122"/>
                <a:cs typeface="Calibri" pitchFamily="34" charset="-120"/>
              </a:rPr>
              <a:t>40.6%</a:t>
            </a:r>
            <a:endParaRPr lang="en-US" sz="1200" dirty="0"/>
          </a:p>
        </p:txBody>
      </p:sp>
      <p:sp>
        <p:nvSpPr>
          <p:cNvPr id="15" name="Text 12"/>
          <p:cNvSpPr/>
          <p:nvPr/>
        </p:nvSpPr>
        <p:spPr>
          <a:xfrm>
            <a:off x="10332720" y="2816352"/>
            <a:ext cx="1188720" cy="512064"/>
          </a:xfrm>
          <a:prstGeom prst="rect">
            <a:avLst/>
          </a:prstGeom>
          <a:noFill/>
          <a:ln/>
        </p:spPr>
        <p:txBody>
          <a:bodyPr wrap="square" lIns="0" tIns="0" rIns="0" bIns="0" rtlCol="0" anchor="ctr"/>
          <a:lstStyle/>
          <a:p>
            <a:pPr marL="0" indent="0" algn="r">
              <a:buNone/>
            </a:pPr>
            <a:r>
              <a:rPr lang="en-US" sz="1050" dirty="0">
                <a:solidFill>
                  <a:srgbClr val="6B7686"/>
                </a:solidFill>
                <a:latin typeface="Calibri" pitchFamily="34" charset="0"/>
                <a:ea typeface="Calibri" pitchFamily="34" charset="-122"/>
                <a:cs typeface="Calibri" pitchFamily="34" charset="-120"/>
              </a:rPr>
              <a:t>₹15,000</a:t>
            </a:r>
            <a:endParaRPr lang="en-US" sz="1050" dirty="0"/>
          </a:p>
        </p:txBody>
      </p:sp>
      <p:sp>
        <p:nvSpPr>
          <p:cNvPr id="16" name="Shape 13"/>
          <p:cNvSpPr/>
          <p:nvPr/>
        </p:nvSpPr>
        <p:spPr>
          <a:xfrm>
            <a:off x="7040880" y="3438144"/>
            <a:ext cx="4572000" cy="512064"/>
          </a:xfrm>
          <a:prstGeom prst="roundRect">
            <a:avLst>
              <a:gd name="adj" fmla="val 14286"/>
            </a:avLst>
          </a:prstGeom>
          <a:solidFill>
            <a:srgbClr val="FFFFFF"/>
          </a:solidFill>
          <a:ln w="12700">
            <a:solidFill>
              <a:srgbClr val="DDE3F0"/>
            </a:solidFill>
            <a:prstDash val="solid"/>
          </a:ln>
        </p:spPr>
        <p:txBody>
          <a:bodyPr/>
          <a:lstStyle/>
          <a:p>
            <a:endParaRPr lang="en-IN"/>
          </a:p>
        </p:txBody>
      </p:sp>
      <p:sp>
        <p:nvSpPr>
          <p:cNvPr id="17" name="Text 14"/>
          <p:cNvSpPr/>
          <p:nvPr/>
        </p:nvSpPr>
        <p:spPr>
          <a:xfrm>
            <a:off x="7223760" y="3438144"/>
            <a:ext cx="2514600" cy="512064"/>
          </a:xfrm>
          <a:prstGeom prst="rect">
            <a:avLst/>
          </a:prstGeom>
          <a:noFill/>
          <a:ln/>
        </p:spPr>
        <p:txBody>
          <a:bodyPr wrap="square" lIns="0" tIns="0" rIns="0" bIns="0" rtlCol="0" anchor="ctr"/>
          <a:lstStyle/>
          <a:p>
            <a:pPr marL="0" indent="0">
              <a:buNone/>
            </a:pPr>
            <a:r>
              <a:rPr lang="en-US" sz="1200" b="1" dirty="0">
                <a:solidFill>
                  <a:srgbClr val="16224D"/>
                </a:solidFill>
                <a:latin typeface="Calibri" pitchFamily="34" charset="0"/>
                <a:ea typeface="Calibri" pitchFamily="34" charset="-122"/>
                <a:cs typeface="Calibri" pitchFamily="34" charset="-120"/>
              </a:rPr>
              <a:t>Food</a:t>
            </a:r>
            <a:endParaRPr lang="en-US" sz="1200" dirty="0"/>
          </a:p>
        </p:txBody>
      </p:sp>
      <p:sp>
        <p:nvSpPr>
          <p:cNvPr id="18" name="Text 15"/>
          <p:cNvSpPr/>
          <p:nvPr/>
        </p:nvSpPr>
        <p:spPr>
          <a:xfrm>
            <a:off x="9555480" y="3438144"/>
            <a:ext cx="914400" cy="512064"/>
          </a:xfrm>
          <a:prstGeom prst="rect">
            <a:avLst/>
          </a:prstGeom>
          <a:noFill/>
          <a:ln/>
        </p:spPr>
        <p:txBody>
          <a:bodyPr wrap="square" lIns="0" tIns="0" rIns="0" bIns="0" rtlCol="0" anchor="ctr"/>
          <a:lstStyle/>
          <a:p>
            <a:pPr marL="0" indent="0" algn="r">
              <a:buNone/>
            </a:pPr>
            <a:r>
              <a:rPr lang="en-US" sz="1200" b="1" dirty="0">
                <a:solidFill>
                  <a:srgbClr val="E29A3E"/>
                </a:solidFill>
                <a:latin typeface="Calibri" pitchFamily="34" charset="0"/>
                <a:ea typeface="Calibri" pitchFamily="34" charset="-122"/>
                <a:cs typeface="Calibri" pitchFamily="34" charset="-120"/>
              </a:rPr>
              <a:t>4.4%</a:t>
            </a:r>
            <a:endParaRPr lang="en-US" sz="1200" dirty="0"/>
          </a:p>
        </p:txBody>
      </p:sp>
      <p:sp>
        <p:nvSpPr>
          <p:cNvPr id="19" name="Text 16"/>
          <p:cNvSpPr/>
          <p:nvPr/>
        </p:nvSpPr>
        <p:spPr>
          <a:xfrm>
            <a:off x="10332720" y="3438144"/>
            <a:ext cx="1188720" cy="512064"/>
          </a:xfrm>
          <a:prstGeom prst="rect">
            <a:avLst/>
          </a:prstGeom>
          <a:noFill/>
          <a:ln/>
        </p:spPr>
        <p:txBody>
          <a:bodyPr wrap="square" lIns="0" tIns="0" rIns="0" bIns="0" rtlCol="0" anchor="ctr"/>
          <a:lstStyle/>
          <a:p>
            <a:pPr marL="0" indent="0" algn="r">
              <a:buNone/>
            </a:pPr>
            <a:r>
              <a:rPr lang="en-US" sz="1050" dirty="0">
                <a:solidFill>
                  <a:srgbClr val="6B7686"/>
                </a:solidFill>
                <a:latin typeface="Calibri" pitchFamily="34" charset="0"/>
                <a:ea typeface="Calibri" pitchFamily="34" charset="-122"/>
                <a:cs typeface="Calibri" pitchFamily="34" charset="-120"/>
              </a:rPr>
              <a:t>₹1,609</a:t>
            </a:r>
            <a:endParaRPr lang="en-US" sz="1050" dirty="0"/>
          </a:p>
        </p:txBody>
      </p:sp>
      <p:sp>
        <p:nvSpPr>
          <p:cNvPr id="20" name="Shape 17"/>
          <p:cNvSpPr/>
          <p:nvPr/>
        </p:nvSpPr>
        <p:spPr>
          <a:xfrm>
            <a:off x="7040880" y="4059936"/>
            <a:ext cx="4572000" cy="512064"/>
          </a:xfrm>
          <a:prstGeom prst="roundRect">
            <a:avLst>
              <a:gd name="adj" fmla="val 14286"/>
            </a:avLst>
          </a:prstGeom>
          <a:solidFill>
            <a:srgbClr val="FFFFFF"/>
          </a:solidFill>
          <a:ln w="12700">
            <a:solidFill>
              <a:srgbClr val="DDE3F0"/>
            </a:solidFill>
            <a:prstDash val="solid"/>
          </a:ln>
        </p:spPr>
        <p:txBody>
          <a:bodyPr/>
          <a:lstStyle/>
          <a:p>
            <a:endParaRPr lang="en-IN"/>
          </a:p>
        </p:txBody>
      </p:sp>
      <p:sp>
        <p:nvSpPr>
          <p:cNvPr id="21" name="Text 18"/>
          <p:cNvSpPr/>
          <p:nvPr/>
        </p:nvSpPr>
        <p:spPr>
          <a:xfrm>
            <a:off x="7223760" y="4059936"/>
            <a:ext cx="2514600" cy="512064"/>
          </a:xfrm>
          <a:prstGeom prst="rect">
            <a:avLst/>
          </a:prstGeom>
          <a:noFill/>
          <a:ln/>
        </p:spPr>
        <p:txBody>
          <a:bodyPr wrap="square" lIns="0" tIns="0" rIns="0" bIns="0" rtlCol="0" anchor="ctr"/>
          <a:lstStyle/>
          <a:p>
            <a:pPr marL="0" indent="0">
              <a:buNone/>
            </a:pPr>
            <a:r>
              <a:rPr lang="en-US" sz="1200" b="1" dirty="0">
                <a:solidFill>
                  <a:srgbClr val="16224D"/>
                </a:solidFill>
                <a:latin typeface="Calibri" pitchFamily="34" charset="0"/>
                <a:ea typeface="Calibri" pitchFamily="34" charset="-122"/>
                <a:cs typeface="Calibri" pitchFamily="34" charset="-120"/>
              </a:rPr>
              <a:t>Transport</a:t>
            </a:r>
            <a:endParaRPr lang="en-US" sz="1200" dirty="0"/>
          </a:p>
        </p:txBody>
      </p:sp>
      <p:sp>
        <p:nvSpPr>
          <p:cNvPr id="22" name="Text 19"/>
          <p:cNvSpPr/>
          <p:nvPr/>
        </p:nvSpPr>
        <p:spPr>
          <a:xfrm>
            <a:off x="9555480" y="4059936"/>
            <a:ext cx="914400" cy="512064"/>
          </a:xfrm>
          <a:prstGeom prst="rect">
            <a:avLst/>
          </a:prstGeom>
          <a:noFill/>
          <a:ln/>
        </p:spPr>
        <p:txBody>
          <a:bodyPr wrap="square" lIns="0" tIns="0" rIns="0" bIns="0" rtlCol="0" anchor="ctr"/>
          <a:lstStyle/>
          <a:p>
            <a:pPr marL="0" indent="0" algn="r">
              <a:buNone/>
            </a:pPr>
            <a:r>
              <a:rPr lang="en-US" sz="1200" b="1" dirty="0">
                <a:solidFill>
                  <a:srgbClr val="E29A3E"/>
                </a:solidFill>
                <a:latin typeface="Calibri" pitchFamily="34" charset="0"/>
                <a:ea typeface="Calibri" pitchFamily="34" charset="-122"/>
                <a:cs typeface="Calibri" pitchFamily="34" charset="-120"/>
              </a:rPr>
              <a:t>4.2%</a:t>
            </a:r>
            <a:endParaRPr lang="en-US" sz="1200" dirty="0"/>
          </a:p>
        </p:txBody>
      </p:sp>
      <p:sp>
        <p:nvSpPr>
          <p:cNvPr id="23" name="Text 20"/>
          <p:cNvSpPr/>
          <p:nvPr/>
        </p:nvSpPr>
        <p:spPr>
          <a:xfrm>
            <a:off x="10332720" y="4059936"/>
            <a:ext cx="1188720" cy="512064"/>
          </a:xfrm>
          <a:prstGeom prst="rect">
            <a:avLst/>
          </a:prstGeom>
          <a:noFill/>
          <a:ln/>
        </p:spPr>
        <p:txBody>
          <a:bodyPr wrap="square" lIns="0" tIns="0" rIns="0" bIns="0" rtlCol="0" anchor="ctr"/>
          <a:lstStyle/>
          <a:p>
            <a:pPr marL="0" indent="0" algn="r">
              <a:buNone/>
            </a:pPr>
            <a:r>
              <a:rPr lang="en-US" sz="1050" dirty="0">
                <a:solidFill>
                  <a:srgbClr val="6B7686"/>
                </a:solidFill>
                <a:latin typeface="Calibri" pitchFamily="34" charset="0"/>
                <a:ea typeface="Calibri" pitchFamily="34" charset="-122"/>
                <a:cs typeface="Calibri" pitchFamily="34" charset="-120"/>
              </a:rPr>
              <a:t>₹1,550</a:t>
            </a:r>
            <a:endParaRPr lang="en-US" sz="1050" dirty="0"/>
          </a:p>
        </p:txBody>
      </p:sp>
      <p:sp>
        <p:nvSpPr>
          <p:cNvPr id="24" name="Shape 21"/>
          <p:cNvSpPr/>
          <p:nvPr/>
        </p:nvSpPr>
        <p:spPr>
          <a:xfrm>
            <a:off x="7040880" y="4681728"/>
            <a:ext cx="4572000" cy="512064"/>
          </a:xfrm>
          <a:prstGeom prst="roundRect">
            <a:avLst>
              <a:gd name="adj" fmla="val 14286"/>
            </a:avLst>
          </a:prstGeom>
          <a:solidFill>
            <a:srgbClr val="FFFFFF"/>
          </a:solidFill>
          <a:ln w="12700">
            <a:solidFill>
              <a:srgbClr val="DDE3F0"/>
            </a:solidFill>
            <a:prstDash val="solid"/>
          </a:ln>
        </p:spPr>
        <p:txBody>
          <a:bodyPr/>
          <a:lstStyle/>
          <a:p>
            <a:endParaRPr lang="en-IN"/>
          </a:p>
        </p:txBody>
      </p:sp>
      <p:sp>
        <p:nvSpPr>
          <p:cNvPr id="25" name="Text 22"/>
          <p:cNvSpPr/>
          <p:nvPr/>
        </p:nvSpPr>
        <p:spPr>
          <a:xfrm>
            <a:off x="7223760" y="4681728"/>
            <a:ext cx="2514600" cy="512064"/>
          </a:xfrm>
          <a:prstGeom prst="rect">
            <a:avLst/>
          </a:prstGeom>
          <a:noFill/>
          <a:ln/>
        </p:spPr>
        <p:txBody>
          <a:bodyPr wrap="square" lIns="0" tIns="0" rIns="0" bIns="0" rtlCol="0" anchor="ctr"/>
          <a:lstStyle/>
          <a:p>
            <a:pPr marL="0" indent="0">
              <a:buNone/>
            </a:pPr>
            <a:r>
              <a:rPr lang="en-US" sz="1200" b="1" dirty="0">
                <a:solidFill>
                  <a:srgbClr val="16224D"/>
                </a:solidFill>
                <a:latin typeface="Calibri" pitchFamily="34" charset="0"/>
                <a:ea typeface="Calibri" pitchFamily="34" charset="-122"/>
                <a:cs typeface="Calibri" pitchFamily="34" charset="-120"/>
              </a:rPr>
              <a:t>Recharge / Cab / Shopping</a:t>
            </a:r>
            <a:endParaRPr lang="en-US" sz="1200" dirty="0"/>
          </a:p>
        </p:txBody>
      </p:sp>
      <p:sp>
        <p:nvSpPr>
          <p:cNvPr id="26" name="Text 23"/>
          <p:cNvSpPr/>
          <p:nvPr/>
        </p:nvSpPr>
        <p:spPr>
          <a:xfrm>
            <a:off x="9555480" y="4681728"/>
            <a:ext cx="914400" cy="512064"/>
          </a:xfrm>
          <a:prstGeom prst="rect">
            <a:avLst/>
          </a:prstGeom>
          <a:noFill/>
          <a:ln/>
        </p:spPr>
        <p:txBody>
          <a:bodyPr wrap="square" lIns="0" tIns="0" rIns="0" bIns="0" rtlCol="0" anchor="ctr"/>
          <a:lstStyle/>
          <a:p>
            <a:pPr marL="0" indent="0" algn="r">
              <a:buNone/>
            </a:pPr>
            <a:r>
              <a:rPr lang="en-US" sz="1200" b="1" dirty="0">
                <a:solidFill>
                  <a:srgbClr val="E29A3E"/>
                </a:solidFill>
                <a:latin typeface="Calibri" pitchFamily="34" charset="0"/>
                <a:ea typeface="Calibri" pitchFamily="34" charset="-122"/>
                <a:cs typeface="Calibri" pitchFamily="34" charset="-120"/>
              </a:rPr>
              <a:t>2.0%</a:t>
            </a:r>
            <a:endParaRPr lang="en-US" sz="1200" dirty="0"/>
          </a:p>
        </p:txBody>
      </p:sp>
      <p:sp>
        <p:nvSpPr>
          <p:cNvPr id="27" name="Text 24"/>
          <p:cNvSpPr/>
          <p:nvPr/>
        </p:nvSpPr>
        <p:spPr>
          <a:xfrm>
            <a:off x="10332720" y="4681728"/>
            <a:ext cx="1188720" cy="512064"/>
          </a:xfrm>
          <a:prstGeom prst="rect">
            <a:avLst/>
          </a:prstGeom>
          <a:noFill/>
          <a:ln/>
        </p:spPr>
        <p:txBody>
          <a:bodyPr wrap="square" lIns="0" tIns="0" rIns="0" bIns="0" rtlCol="0" anchor="ctr"/>
          <a:lstStyle/>
          <a:p>
            <a:pPr marL="0" indent="0" algn="r">
              <a:buNone/>
            </a:pPr>
            <a:r>
              <a:rPr lang="en-US" sz="1050" dirty="0">
                <a:solidFill>
                  <a:srgbClr val="6B7686"/>
                </a:solidFill>
                <a:latin typeface="Calibri" pitchFamily="34" charset="0"/>
                <a:ea typeface="Calibri" pitchFamily="34" charset="-122"/>
                <a:cs typeface="Calibri" pitchFamily="34" charset="-120"/>
              </a:rPr>
              <a:t>₹754 combined</a:t>
            </a:r>
            <a:endParaRPr lang="en-US" sz="1050" dirty="0"/>
          </a:p>
        </p:txBody>
      </p:sp>
      <p:sp>
        <p:nvSpPr>
          <p:cNvPr id="28" name="Text 25"/>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6B7686"/>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224D"/>
        </a:solidFill>
        <a:effectLst/>
      </p:bgPr>
    </p:bg>
    <p:spTree>
      <p:nvGrpSpPr>
        <p:cNvPr id="1" name=""/>
        <p:cNvGrpSpPr/>
        <p:nvPr/>
      </p:nvGrpSpPr>
      <p:grpSpPr>
        <a:xfrm>
          <a:off x="0" y="0"/>
          <a:ext cx="0" cy="0"/>
          <a:chOff x="0" y="0"/>
          <a:chExt cx="0" cy="0"/>
        </a:xfrm>
      </p:grpSpPr>
      <p:sp>
        <p:nvSpPr>
          <p:cNvPr id="2" name="Shape 0"/>
          <p:cNvSpPr/>
          <p:nvPr/>
        </p:nvSpPr>
        <p:spPr>
          <a:xfrm>
            <a:off x="9326880" y="4206240"/>
            <a:ext cx="5120640" cy="5120640"/>
          </a:xfrm>
          <a:prstGeom prst="ellipse">
            <a:avLst/>
          </a:prstGeom>
          <a:solidFill>
            <a:srgbClr val="22335E"/>
          </a:solidFill>
          <a:ln/>
        </p:spPr>
        <p:txBody>
          <a:bodyPr/>
          <a:lstStyle/>
          <a:p>
            <a:endParaRPr lang="en-IN"/>
          </a:p>
        </p:txBody>
      </p:sp>
      <p:sp>
        <p:nvSpPr>
          <p:cNvPr id="3" name="Shape 1"/>
          <p:cNvSpPr/>
          <p:nvPr/>
        </p:nvSpPr>
        <p:spPr>
          <a:xfrm>
            <a:off x="-1828800" y="-2194560"/>
            <a:ext cx="4389120" cy="4389120"/>
          </a:xfrm>
          <a:prstGeom prst="ellipse">
            <a:avLst/>
          </a:prstGeom>
          <a:solidFill>
            <a:srgbClr val="0D1730"/>
          </a:solidFill>
          <a:ln/>
        </p:spPr>
        <p:txBody>
          <a:bodyPr/>
          <a:lstStyle/>
          <a:p>
            <a:endParaRPr lang="en-IN"/>
          </a:p>
        </p:txBody>
      </p:sp>
      <p:sp>
        <p:nvSpPr>
          <p:cNvPr id="4" name="Text 2"/>
          <p:cNvSpPr/>
          <p:nvPr/>
        </p:nvSpPr>
        <p:spPr>
          <a:xfrm>
            <a:off x="548640" y="384048"/>
            <a:ext cx="9144000" cy="292608"/>
          </a:xfrm>
          <a:prstGeom prst="rect">
            <a:avLst/>
          </a:prstGeom>
          <a:noFill/>
          <a:ln/>
        </p:spPr>
        <p:txBody>
          <a:bodyPr wrap="square" lIns="0" tIns="0" rIns="0" bIns="0" rtlCol="0" anchor="ctr"/>
          <a:lstStyle/>
          <a:p>
            <a:pPr marL="0" indent="0">
              <a:buNone/>
            </a:pPr>
            <a:r>
              <a:rPr lang="en-US" sz="1250" b="1" kern="0" spc="200" dirty="0">
                <a:solidFill>
                  <a:srgbClr val="E29A3E"/>
                </a:solidFill>
                <a:latin typeface="Calibri" pitchFamily="34" charset="0"/>
                <a:ea typeface="Calibri" pitchFamily="34" charset="-122"/>
                <a:cs typeface="Calibri" pitchFamily="34" charset="-120"/>
              </a:rPr>
              <a:t>WRAPPING UP</a:t>
            </a:r>
            <a:endParaRPr lang="en-US" sz="1250" dirty="0"/>
          </a:p>
        </p:txBody>
      </p:sp>
      <p:sp>
        <p:nvSpPr>
          <p:cNvPr id="5" name="Text 3"/>
          <p:cNvSpPr/>
          <p:nvPr/>
        </p:nvSpPr>
        <p:spPr>
          <a:xfrm>
            <a:off x="548640" y="658368"/>
            <a:ext cx="10607040" cy="65836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Results, Conclusion &amp; Future Scope</a:t>
            </a:r>
            <a:endParaRPr lang="en-US" sz="3000" dirty="0"/>
          </a:p>
        </p:txBody>
      </p:sp>
      <p:sp>
        <p:nvSpPr>
          <p:cNvPr id="6" name="Text 4"/>
          <p:cNvSpPr/>
          <p:nvPr/>
        </p:nvSpPr>
        <p:spPr>
          <a:xfrm>
            <a:off x="548640" y="1600200"/>
            <a:ext cx="5349240" cy="365760"/>
          </a:xfrm>
          <a:prstGeom prst="rect">
            <a:avLst/>
          </a:prstGeom>
          <a:noFill/>
          <a:ln/>
        </p:spPr>
        <p:txBody>
          <a:bodyPr wrap="square" lIns="0" tIns="0" rIns="0" bIns="0" rtlCol="0" anchor="ctr"/>
          <a:lstStyle/>
          <a:p>
            <a:pPr marL="0" indent="0">
              <a:buNone/>
            </a:pPr>
            <a:r>
              <a:rPr lang="en-US" sz="1800" b="1" dirty="0">
                <a:solidFill>
                  <a:srgbClr val="E29A3E"/>
                </a:solidFill>
                <a:latin typeface="Cambria" pitchFamily="34" charset="0"/>
                <a:ea typeface="Cambria" pitchFamily="34" charset="-122"/>
                <a:cs typeface="Cambria" pitchFamily="34" charset="-120"/>
              </a:rPr>
              <a:t>Key Results</a:t>
            </a:r>
            <a:endParaRPr lang="en-US" sz="1800" dirty="0"/>
          </a:p>
        </p:txBody>
      </p:sp>
      <p:sp>
        <p:nvSpPr>
          <p:cNvPr id="7" name="Shape 5"/>
          <p:cNvSpPr/>
          <p:nvPr/>
        </p:nvSpPr>
        <p:spPr>
          <a:xfrm>
            <a:off x="548640" y="2157984"/>
            <a:ext cx="128016" cy="128016"/>
          </a:xfrm>
          <a:prstGeom prst="ellipse">
            <a:avLst/>
          </a:prstGeom>
          <a:solidFill>
            <a:srgbClr val="E29A3E"/>
          </a:solidFill>
          <a:ln/>
        </p:spPr>
        <p:txBody>
          <a:bodyPr/>
          <a:lstStyle/>
          <a:p>
            <a:endParaRPr lang="en-IN"/>
          </a:p>
        </p:txBody>
      </p:sp>
      <p:sp>
        <p:nvSpPr>
          <p:cNvPr id="8" name="Text 6"/>
          <p:cNvSpPr/>
          <p:nvPr/>
        </p:nvSpPr>
        <p:spPr>
          <a:xfrm>
            <a:off x="841248" y="2048256"/>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Automated salary component extraction from payslips</a:t>
            </a:r>
            <a:endParaRPr lang="en-US" sz="1250" dirty="0"/>
          </a:p>
        </p:txBody>
      </p:sp>
      <p:sp>
        <p:nvSpPr>
          <p:cNvPr id="9" name="Shape 7"/>
          <p:cNvSpPr/>
          <p:nvPr/>
        </p:nvSpPr>
        <p:spPr>
          <a:xfrm>
            <a:off x="548640" y="2724912"/>
            <a:ext cx="128016" cy="128016"/>
          </a:xfrm>
          <a:prstGeom prst="ellipse">
            <a:avLst/>
          </a:prstGeom>
          <a:solidFill>
            <a:srgbClr val="E29A3E"/>
          </a:solidFill>
          <a:ln/>
        </p:spPr>
        <p:txBody>
          <a:bodyPr/>
          <a:lstStyle/>
          <a:p>
            <a:endParaRPr lang="en-IN"/>
          </a:p>
        </p:txBody>
      </p:sp>
      <p:sp>
        <p:nvSpPr>
          <p:cNvPr id="10" name="Text 8"/>
          <p:cNvSpPr/>
          <p:nvPr/>
        </p:nvSpPr>
        <p:spPr>
          <a:xfrm>
            <a:off x="841248" y="2615184"/>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Rule-based, instant loan eligibility decisions</a:t>
            </a:r>
            <a:endParaRPr lang="en-US" sz="1250" dirty="0"/>
          </a:p>
        </p:txBody>
      </p:sp>
      <p:sp>
        <p:nvSpPr>
          <p:cNvPr id="11" name="Shape 9"/>
          <p:cNvSpPr/>
          <p:nvPr/>
        </p:nvSpPr>
        <p:spPr>
          <a:xfrm>
            <a:off x="548640" y="3291840"/>
            <a:ext cx="128016" cy="128016"/>
          </a:xfrm>
          <a:prstGeom prst="ellipse">
            <a:avLst/>
          </a:prstGeom>
          <a:solidFill>
            <a:srgbClr val="E29A3E"/>
          </a:solidFill>
          <a:ln/>
        </p:spPr>
        <p:txBody>
          <a:bodyPr/>
          <a:lstStyle/>
          <a:p>
            <a:endParaRPr lang="en-IN"/>
          </a:p>
        </p:txBody>
      </p:sp>
      <p:sp>
        <p:nvSpPr>
          <p:cNvPr id="12" name="Text 10"/>
          <p:cNvSpPr/>
          <p:nvPr/>
        </p:nvSpPr>
        <p:spPr>
          <a:xfrm>
            <a:off x="841248" y="3182112"/>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BERT-based classification of bank transactions</a:t>
            </a:r>
            <a:endParaRPr lang="en-US" sz="1250" dirty="0"/>
          </a:p>
        </p:txBody>
      </p:sp>
      <p:sp>
        <p:nvSpPr>
          <p:cNvPr id="13" name="Shape 11"/>
          <p:cNvSpPr/>
          <p:nvPr/>
        </p:nvSpPr>
        <p:spPr>
          <a:xfrm>
            <a:off x="548640" y="3858768"/>
            <a:ext cx="128016" cy="128016"/>
          </a:xfrm>
          <a:prstGeom prst="ellipse">
            <a:avLst/>
          </a:prstGeom>
          <a:solidFill>
            <a:srgbClr val="E29A3E"/>
          </a:solidFill>
          <a:ln/>
        </p:spPr>
        <p:txBody>
          <a:bodyPr/>
          <a:lstStyle/>
          <a:p>
            <a:endParaRPr lang="en-IN"/>
          </a:p>
        </p:txBody>
      </p:sp>
      <p:sp>
        <p:nvSpPr>
          <p:cNvPr id="14" name="Text 12"/>
          <p:cNvSpPr/>
          <p:nvPr/>
        </p:nvSpPr>
        <p:spPr>
          <a:xfrm>
            <a:off x="841248" y="3749040"/>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Clear pie chart &amp; bar plot visual reporting</a:t>
            </a:r>
            <a:endParaRPr lang="en-US" sz="1250" dirty="0"/>
          </a:p>
        </p:txBody>
      </p:sp>
      <p:sp>
        <p:nvSpPr>
          <p:cNvPr id="15" name="Shape 13"/>
          <p:cNvSpPr/>
          <p:nvPr/>
        </p:nvSpPr>
        <p:spPr>
          <a:xfrm>
            <a:off x="548640" y="4425696"/>
            <a:ext cx="128016" cy="128016"/>
          </a:xfrm>
          <a:prstGeom prst="ellipse">
            <a:avLst/>
          </a:prstGeom>
          <a:solidFill>
            <a:srgbClr val="E29A3E"/>
          </a:solidFill>
          <a:ln/>
        </p:spPr>
        <p:txBody>
          <a:bodyPr/>
          <a:lstStyle/>
          <a:p>
            <a:endParaRPr lang="en-IN"/>
          </a:p>
        </p:txBody>
      </p:sp>
      <p:sp>
        <p:nvSpPr>
          <p:cNvPr id="16" name="Text 14"/>
          <p:cNvSpPr/>
          <p:nvPr/>
        </p:nvSpPr>
        <p:spPr>
          <a:xfrm>
            <a:off x="841248" y="4315968"/>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Secure, login-protected multi-module dashboard</a:t>
            </a:r>
            <a:endParaRPr lang="en-US" sz="1250" dirty="0"/>
          </a:p>
        </p:txBody>
      </p:sp>
      <p:sp>
        <p:nvSpPr>
          <p:cNvPr id="17" name="Text 15"/>
          <p:cNvSpPr/>
          <p:nvPr/>
        </p:nvSpPr>
        <p:spPr>
          <a:xfrm>
            <a:off x="6309360" y="1600200"/>
            <a:ext cx="5349240" cy="365760"/>
          </a:xfrm>
          <a:prstGeom prst="rect">
            <a:avLst/>
          </a:prstGeom>
          <a:noFill/>
          <a:ln/>
        </p:spPr>
        <p:txBody>
          <a:bodyPr wrap="square" lIns="0" tIns="0" rIns="0" bIns="0" rtlCol="0" anchor="ctr"/>
          <a:lstStyle/>
          <a:p>
            <a:pPr marL="0" indent="0">
              <a:buNone/>
            </a:pPr>
            <a:r>
              <a:rPr lang="en-US" sz="1800" b="1" dirty="0">
                <a:solidFill>
                  <a:srgbClr val="E29A3E"/>
                </a:solidFill>
                <a:latin typeface="Cambria" pitchFamily="34" charset="0"/>
                <a:ea typeface="Cambria" pitchFamily="34" charset="-122"/>
                <a:cs typeface="Cambria" pitchFamily="34" charset="-120"/>
              </a:rPr>
              <a:t>Future Scope</a:t>
            </a:r>
            <a:endParaRPr lang="en-US" sz="1800" dirty="0"/>
          </a:p>
        </p:txBody>
      </p:sp>
      <p:sp>
        <p:nvSpPr>
          <p:cNvPr id="18" name="Shape 16"/>
          <p:cNvSpPr/>
          <p:nvPr/>
        </p:nvSpPr>
        <p:spPr>
          <a:xfrm>
            <a:off x="6309360" y="2157984"/>
            <a:ext cx="128016" cy="128016"/>
          </a:xfrm>
          <a:prstGeom prst="ellipse">
            <a:avLst/>
          </a:prstGeom>
          <a:solidFill>
            <a:srgbClr val="E29A3E"/>
          </a:solidFill>
          <a:ln/>
        </p:spPr>
        <p:txBody>
          <a:bodyPr/>
          <a:lstStyle/>
          <a:p>
            <a:endParaRPr lang="en-IN"/>
          </a:p>
        </p:txBody>
      </p:sp>
      <p:sp>
        <p:nvSpPr>
          <p:cNvPr id="19" name="Text 17"/>
          <p:cNvSpPr/>
          <p:nvPr/>
        </p:nvSpPr>
        <p:spPr>
          <a:xfrm>
            <a:off x="6601968" y="2048256"/>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Multi-bank statement format support</a:t>
            </a:r>
            <a:endParaRPr lang="en-US" sz="1250" dirty="0"/>
          </a:p>
        </p:txBody>
      </p:sp>
      <p:sp>
        <p:nvSpPr>
          <p:cNvPr id="20" name="Shape 18"/>
          <p:cNvSpPr/>
          <p:nvPr/>
        </p:nvSpPr>
        <p:spPr>
          <a:xfrm>
            <a:off x="6309360" y="2724912"/>
            <a:ext cx="128016" cy="128016"/>
          </a:xfrm>
          <a:prstGeom prst="ellipse">
            <a:avLst/>
          </a:prstGeom>
          <a:solidFill>
            <a:srgbClr val="E29A3E"/>
          </a:solidFill>
          <a:ln/>
        </p:spPr>
        <p:txBody>
          <a:bodyPr/>
          <a:lstStyle/>
          <a:p>
            <a:endParaRPr lang="en-IN"/>
          </a:p>
        </p:txBody>
      </p:sp>
      <p:sp>
        <p:nvSpPr>
          <p:cNvPr id="21" name="Text 19"/>
          <p:cNvSpPr/>
          <p:nvPr/>
        </p:nvSpPr>
        <p:spPr>
          <a:xfrm>
            <a:off x="6601968" y="2615184"/>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Expense prediction using AI trend analysis</a:t>
            </a:r>
            <a:endParaRPr lang="en-US" sz="1250" dirty="0"/>
          </a:p>
        </p:txBody>
      </p:sp>
      <p:sp>
        <p:nvSpPr>
          <p:cNvPr id="22" name="Shape 20"/>
          <p:cNvSpPr/>
          <p:nvPr/>
        </p:nvSpPr>
        <p:spPr>
          <a:xfrm>
            <a:off x="6309360" y="3291840"/>
            <a:ext cx="128016" cy="128016"/>
          </a:xfrm>
          <a:prstGeom prst="ellipse">
            <a:avLst/>
          </a:prstGeom>
          <a:solidFill>
            <a:srgbClr val="E29A3E"/>
          </a:solidFill>
          <a:ln/>
        </p:spPr>
        <p:txBody>
          <a:bodyPr/>
          <a:lstStyle/>
          <a:p>
            <a:endParaRPr lang="en-IN"/>
          </a:p>
        </p:txBody>
      </p:sp>
      <p:sp>
        <p:nvSpPr>
          <p:cNvPr id="23" name="Text 21"/>
          <p:cNvSpPr/>
          <p:nvPr/>
        </p:nvSpPr>
        <p:spPr>
          <a:xfrm>
            <a:off x="6601968" y="3182112"/>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Budget recommendation system</a:t>
            </a:r>
            <a:endParaRPr lang="en-US" sz="1250" dirty="0"/>
          </a:p>
        </p:txBody>
      </p:sp>
      <p:sp>
        <p:nvSpPr>
          <p:cNvPr id="24" name="Shape 22"/>
          <p:cNvSpPr/>
          <p:nvPr/>
        </p:nvSpPr>
        <p:spPr>
          <a:xfrm>
            <a:off x="6309360" y="3858768"/>
            <a:ext cx="128016" cy="128016"/>
          </a:xfrm>
          <a:prstGeom prst="ellipse">
            <a:avLst/>
          </a:prstGeom>
          <a:solidFill>
            <a:srgbClr val="E29A3E"/>
          </a:solidFill>
          <a:ln/>
        </p:spPr>
        <p:txBody>
          <a:bodyPr/>
          <a:lstStyle/>
          <a:p>
            <a:endParaRPr lang="en-IN"/>
          </a:p>
        </p:txBody>
      </p:sp>
      <p:sp>
        <p:nvSpPr>
          <p:cNvPr id="25" name="Text 23"/>
          <p:cNvSpPr/>
          <p:nvPr/>
        </p:nvSpPr>
        <p:spPr>
          <a:xfrm>
            <a:off x="6601968" y="3749040"/>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Mobile application version</a:t>
            </a:r>
            <a:endParaRPr lang="en-US" sz="1250" dirty="0"/>
          </a:p>
        </p:txBody>
      </p:sp>
      <p:sp>
        <p:nvSpPr>
          <p:cNvPr id="26" name="Shape 24"/>
          <p:cNvSpPr/>
          <p:nvPr/>
        </p:nvSpPr>
        <p:spPr>
          <a:xfrm>
            <a:off x="6309360" y="4425696"/>
            <a:ext cx="128016" cy="128016"/>
          </a:xfrm>
          <a:prstGeom prst="ellipse">
            <a:avLst/>
          </a:prstGeom>
          <a:solidFill>
            <a:srgbClr val="E29A3E"/>
          </a:solidFill>
          <a:ln/>
        </p:spPr>
        <p:txBody>
          <a:bodyPr/>
          <a:lstStyle/>
          <a:p>
            <a:endParaRPr lang="en-IN"/>
          </a:p>
        </p:txBody>
      </p:sp>
      <p:sp>
        <p:nvSpPr>
          <p:cNvPr id="27" name="Text 25"/>
          <p:cNvSpPr/>
          <p:nvPr/>
        </p:nvSpPr>
        <p:spPr>
          <a:xfrm>
            <a:off x="6601968" y="4315968"/>
            <a:ext cx="5056632" cy="457200"/>
          </a:xfrm>
          <a:prstGeom prst="rect">
            <a:avLst/>
          </a:prstGeom>
          <a:noFill/>
          <a:ln/>
        </p:spPr>
        <p:txBody>
          <a:bodyPr wrap="square" lIns="0" tIns="0" rIns="0" bIns="0" rtlCol="0" anchor="ctr"/>
          <a:lstStyle/>
          <a:p>
            <a:pPr marL="0" indent="0">
              <a:lnSpc>
                <a:spcPct val="115000"/>
              </a:lnSpc>
              <a:buNone/>
            </a:pPr>
            <a:r>
              <a:rPr lang="en-US" sz="1250" dirty="0">
                <a:solidFill>
                  <a:srgbClr val="E4E9F5"/>
                </a:solidFill>
                <a:latin typeface="Calibri" pitchFamily="34" charset="0"/>
                <a:ea typeface="Calibri" pitchFamily="34" charset="-122"/>
                <a:cs typeface="Calibri" pitchFamily="34" charset="-120"/>
              </a:rPr>
              <a:t>Cloud database integration for history &amp; reports</a:t>
            </a:r>
            <a:endParaRPr lang="en-US" sz="1250" dirty="0"/>
          </a:p>
        </p:txBody>
      </p:sp>
      <p:sp>
        <p:nvSpPr>
          <p:cNvPr id="28" name="Shape 26"/>
          <p:cNvSpPr/>
          <p:nvPr/>
        </p:nvSpPr>
        <p:spPr>
          <a:xfrm>
            <a:off x="548640" y="4892040"/>
            <a:ext cx="11091672" cy="0"/>
          </a:xfrm>
          <a:prstGeom prst="line">
            <a:avLst/>
          </a:prstGeom>
          <a:noFill/>
          <a:ln w="12700">
            <a:solidFill>
              <a:srgbClr val="33437A"/>
            </a:solidFill>
            <a:prstDash val="solid"/>
          </a:ln>
        </p:spPr>
        <p:txBody>
          <a:bodyPr/>
          <a:lstStyle/>
          <a:p>
            <a:endParaRPr lang="en-IN"/>
          </a:p>
        </p:txBody>
      </p:sp>
      <p:sp>
        <p:nvSpPr>
          <p:cNvPr id="29" name="Text 27"/>
          <p:cNvSpPr/>
          <p:nvPr/>
        </p:nvSpPr>
        <p:spPr>
          <a:xfrm>
            <a:off x="548640" y="5074920"/>
            <a:ext cx="11091672" cy="1280160"/>
          </a:xfrm>
          <a:prstGeom prst="rect">
            <a:avLst/>
          </a:prstGeom>
          <a:noFill/>
          <a:ln/>
        </p:spPr>
        <p:txBody>
          <a:bodyPr wrap="square" lIns="0" tIns="0" rIns="0" bIns="0" rtlCol="0" anchor="ctr"/>
          <a:lstStyle/>
          <a:p>
            <a:pPr marL="0" indent="0" algn="l">
              <a:lnSpc>
                <a:spcPct val="130000"/>
              </a:lnSpc>
              <a:buNone/>
            </a:pPr>
            <a:r>
              <a:rPr lang="en-US" sz="1350" i="1" dirty="0">
                <a:solidFill>
                  <a:srgbClr val="CADCFC"/>
                </a:solidFill>
                <a:latin typeface="Calibri" pitchFamily="34" charset="0"/>
                <a:ea typeface="Calibri" pitchFamily="34" charset="-122"/>
                <a:cs typeface="Calibri" pitchFamily="34" charset="-120"/>
              </a:rPr>
              <a:t>AI Financial Analyzer brings payslip-based loan eligibility and BERT-driven expense categorization together into one secure, visual, and easy-to-use platform — replacing slow manual review with instant, reliable financial insight.</a:t>
            </a:r>
            <a:endParaRPr lang="en-US" sz="1350" dirty="0"/>
          </a:p>
        </p:txBody>
      </p:sp>
      <p:sp>
        <p:nvSpPr>
          <p:cNvPr id="30" name="Text 28"/>
          <p:cNvSpPr/>
          <p:nvPr/>
        </p:nvSpPr>
        <p:spPr>
          <a:xfrm>
            <a:off x="11368735" y="6400800"/>
            <a:ext cx="548640" cy="274320"/>
          </a:xfrm>
          <a:prstGeom prst="rect">
            <a:avLst/>
          </a:prstGeom>
          <a:noFill/>
          <a:ln/>
        </p:spPr>
        <p:txBody>
          <a:bodyPr wrap="square" lIns="0" tIns="0" rIns="0" bIns="0" rtlCol="0" anchor="ctr"/>
          <a:lstStyle/>
          <a:p>
            <a:pPr marL="0" indent="0" algn="r">
              <a:buNone/>
            </a:pPr>
            <a:r>
              <a:rPr lang="en-US" sz="1000" dirty="0">
                <a:solidFill>
                  <a:srgbClr val="AEB9D6"/>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946</Words>
  <Application>Microsoft Office PowerPoint</Application>
  <PresentationFormat>Widescreen</PresentationFormat>
  <Paragraphs>204</Paragraphs>
  <Slides>12</Slides>
  <Notes>12</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RITAM HALDER</cp:lastModifiedBy>
  <cp:revision>1</cp:revision>
  <dcterms:created xsi:type="dcterms:W3CDTF">2026-07-13T08:30:52Z</dcterms:created>
  <dcterms:modified xsi:type="dcterms:W3CDTF">2026-07-13T08:48:48Z</dcterms:modified>
</cp:coreProperties>
</file>